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56" r:id="rId4"/>
    <p:sldId id="270" r:id="rId5"/>
    <p:sldId id="257" r:id="rId6"/>
    <p:sldId id="269" r:id="rId7"/>
    <p:sldId id="274" r:id="rId8"/>
    <p:sldId id="275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4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24B4-6373-473E-AD05-B580F5529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E0C71-19D2-43D6-8CBD-FDCD1DC74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24BE7-91CB-47B6-986B-249B5EBD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99BDB-3F4B-41F1-82CE-5CB27DBE5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B0B98-CE92-44DE-B1E1-96B6D2A9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428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DC7C-A634-4039-BDC5-D8F4EBE3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F7A57-965E-4160-B639-899C43DA7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4FE56-DFF6-4F85-AD3C-DA8B87BB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897A-2BB1-40F7-9984-F197C55E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23989-D1DD-420B-94CC-DA74CDFC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04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65F74-52C9-49E3-9F17-D9ECBEC8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BB48C-D5B8-4315-B3AE-F3A87E565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AD214-249F-4D4A-9BA0-216DE65C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7C5A2-E867-4D51-BFDB-F72692CF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AE893-8A0B-49D6-8F73-68AE0BE4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100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6C0D-ACEA-49EA-B138-BA5DDEB1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3F9BE-6EE4-4612-9D1D-EE960D751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C8019-4E37-46F9-B56B-80F40371B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1CAE4-BFF7-40FA-A61E-6A4560E7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B9956-6E87-4A50-88B2-3CF378F0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3C245-6C98-4D3A-9F03-96E01AA0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06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90EA-20B2-4DC2-9C0C-8CADA9B8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532E3-AC21-4357-93F2-3CD96654C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74080-9B6F-43DB-A5E8-87414EFB9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3FFB2-A111-4BCA-AB65-04357C8CF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C129E-F31A-4017-8E8A-3AACABF90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FBFE63-D00A-470B-A76E-93B3F0CE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3AD73-8B5B-4F3F-82CC-E51FA4F0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49755-1F15-4875-B492-490AF760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20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CBD3-F0C3-42A1-8CD2-AC0714A0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7AB7F-9C49-4C0E-88DA-2F3C7A05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44DE1-9E25-404D-978D-7D20EA00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28C9F-FF7F-48B5-AE7F-A6AE9B65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405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2C9DA-A8B0-4528-8570-EFB692F0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FACFF-36F0-4AB7-9163-1B3A5B70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08023-FADB-47C4-B407-D765111F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18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FAC6-6D06-4A1C-8042-D2CFEC6A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2908-7DB5-4B8B-ACC2-984BF615C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74C73-0423-4AB2-9D2B-4A4112E5A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5237A-2AD0-42FE-879D-812E5687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C6C61-B3B5-4807-AA4E-3A14126B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AAC0E-E6BD-47DF-894F-C2456E66C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95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24FF-F009-4A6F-BACC-68B8FD94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E2085-EFDC-440A-A625-3C11A419A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E2544-3F3E-4EB4-A198-A9ACC5B4B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2FAD2-7624-4746-BC32-FC4306A2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FB8C8-6E51-4652-B8E4-0E216CF3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3F590-41F5-4D51-B8ED-9AE73892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176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3061F-FB49-42D2-84FA-E02F33C57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7D6EB-68A0-406E-B790-90FA22661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862F5-1B30-4A0F-9AD3-76685757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0F675-3BD8-490A-965B-D9C2B9D5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AEEE-54D7-446D-8ACF-4743681E8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9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B2A74-94F5-4152-B018-B92D0DD3B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C6073-68DC-4471-B45D-CE6F0306D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EB530-C35A-4BBF-94DD-D55C6C8C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414F1-2328-4989-88A6-6885C6D8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543EA-D815-4E0B-B753-698C7E3D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18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3D11-1B3B-4407-BA82-9829BF071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C1297-A94F-48DF-A8BF-DC3E8925B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7630A-E696-4162-B33E-F55B2450A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CFA4-0783-40FF-B066-AA15E2001EA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5FBCC-67FC-45E5-90AF-87C333136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099C5-6F94-4D6A-9AE7-9E0572C15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0EEFC-19E8-4E8D-8A76-8D85A2A409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30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56">
            <a:extLst>
              <a:ext uri="{FF2B5EF4-FFF2-40B4-BE49-F238E27FC236}">
                <a16:creationId xmlns:a16="http://schemas.microsoft.com/office/drawing/2014/main" id="{2BF86677-2281-40F2-A6AF-1CC40DEAA44C}"/>
              </a:ext>
            </a:extLst>
          </p:cNvPr>
          <p:cNvSpPr/>
          <p:nvPr/>
        </p:nvSpPr>
        <p:spPr>
          <a:xfrm>
            <a:off x="749377" y="1383530"/>
            <a:ext cx="6801684" cy="1960222"/>
          </a:xfrm>
          <a:prstGeom prst="roundRect">
            <a:avLst>
              <a:gd name="adj" fmla="val 8707"/>
            </a:avLst>
          </a:prstGeom>
          <a:noFill/>
          <a:ln w="28575">
            <a:solidFill>
              <a:srgbClr val="002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2000" dirty="0">
              <a:solidFill>
                <a:srgbClr val="00294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09F38-45F2-43F4-9AD4-256E7E9A7C95}"/>
              </a:ext>
            </a:extLst>
          </p:cNvPr>
          <p:cNvSpPr/>
          <p:nvPr/>
        </p:nvSpPr>
        <p:spPr>
          <a:xfrm>
            <a:off x="1261914" y="1987416"/>
            <a:ext cx="4876747" cy="16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56">
            <a:extLst>
              <a:ext uri="{FF2B5EF4-FFF2-40B4-BE49-F238E27FC236}">
                <a16:creationId xmlns:a16="http://schemas.microsoft.com/office/drawing/2014/main" id="{F15AB149-5877-4441-BC80-9F8C9100B730}"/>
              </a:ext>
            </a:extLst>
          </p:cNvPr>
          <p:cNvSpPr/>
          <p:nvPr/>
        </p:nvSpPr>
        <p:spPr>
          <a:xfrm>
            <a:off x="7551061" y="1651141"/>
            <a:ext cx="3790790" cy="2369043"/>
          </a:xfrm>
          <a:prstGeom prst="roundRect">
            <a:avLst>
              <a:gd name="adj" fmla="val 8707"/>
            </a:avLst>
          </a:prstGeom>
          <a:noFill/>
          <a:ln w="28575">
            <a:solidFill>
              <a:srgbClr val="002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2000" dirty="0">
              <a:solidFill>
                <a:srgbClr val="00294A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25B2D5-FB5D-40DA-B61E-2D757DF59429}"/>
              </a:ext>
            </a:extLst>
          </p:cNvPr>
          <p:cNvSpPr/>
          <p:nvPr/>
        </p:nvSpPr>
        <p:spPr>
          <a:xfrm>
            <a:off x="8282353" y="1364813"/>
            <a:ext cx="2095428" cy="624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C12790-4CE6-4C7C-BFE5-B1CE7CAE7868}"/>
              </a:ext>
            </a:extLst>
          </p:cNvPr>
          <p:cNvSpPr/>
          <p:nvPr/>
        </p:nvSpPr>
        <p:spPr>
          <a:xfrm>
            <a:off x="7006807" y="2064905"/>
            <a:ext cx="1080000" cy="10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2FC24F1B-5488-4EDA-A71F-A7CA8E0CAF6E}"/>
              </a:ext>
            </a:extLst>
          </p:cNvPr>
          <p:cNvSpPr/>
          <p:nvPr/>
        </p:nvSpPr>
        <p:spPr>
          <a:xfrm>
            <a:off x="9073972" y="1280888"/>
            <a:ext cx="1399733" cy="2521261"/>
          </a:xfrm>
          <a:prstGeom prst="cube">
            <a:avLst>
              <a:gd name="adj" fmla="val 7714"/>
            </a:avLst>
          </a:prstGeom>
          <a:solidFill>
            <a:srgbClr val="D0CECE"/>
          </a:solidFill>
          <a:ln w="9525">
            <a:solidFill>
              <a:schemeClr val="tx1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0231463-29FD-4500-9BC5-A77EC49B6DDF}"/>
              </a:ext>
            </a:extLst>
          </p:cNvPr>
          <p:cNvSpPr/>
          <p:nvPr/>
        </p:nvSpPr>
        <p:spPr>
          <a:xfrm rot="11400000">
            <a:off x="4525828" y="2180244"/>
            <a:ext cx="1497652" cy="386880"/>
          </a:xfrm>
          <a:prstGeom prst="cube">
            <a:avLst>
              <a:gd name="adj" fmla="val 55684"/>
            </a:avLst>
          </a:prstGeom>
          <a:solidFill>
            <a:srgbClr val="D0CECE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705F4B-8FA6-4E9E-8A2E-770E7B4D1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120" y="1398183"/>
            <a:ext cx="4559215" cy="2268303"/>
          </a:xfrm>
          <a:prstGeom prst="rect">
            <a:avLst/>
          </a:prstGeom>
        </p:spPr>
      </p:pic>
      <p:sp>
        <p:nvSpPr>
          <p:cNvPr id="10" name="Ellipse 2">
            <a:extLst>
              <a:ext uri="{FF2B5EF4-FFF2-40B4-BE49-F238E27FC236}">
                <a16:creationId xmlns:a16="http://schemas.microsoft.com/office/drawing/2014/main" id="{54A01DBF-0082-4B1C-A716-DDB8600F03FE}"/>
              </a:ext>
            </a:extLst>
          </p:cNvPr>
          <p:cNvSpPr/>
          <p:nvPr/>
        </p:nvSpPr>
        <p:spPr>
          <a:xfrm>
            <a:off x="7170861" y="2158255"/>
            <a:ext cx="720000" cy="720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A111E-F933-4CE5-A9F0-00F30FAC303A}"/>
              </a:ext>
            </a:extLst>
          </p:cNvPr>
          <p:cNvSpPr txBox="1"/>
          <p:nvPr/>
        </p:nvSpPr>
        <p:spPr>
          <a:xfrm>
            <a:off x="5751841" y="2488016"/>
            <a:ext cx="15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94A"/>
                </a:solidFill>
              </a:rPr>
              <a:t>incident </a:t>
            </a:r>
            <a:r>
              <a:rPr lang="fr-FR" dirty="0" err="1">
                <a:solidFill>
                  <a:srgbClr val="00294A"/>
                </a:solidFill>
              </a:rPr>
              <a:t>beam</a:t>
            </a:r>
            <a:endParaRPr lang="fr-FR" dirty="0">
              <a:solidFill>
                <a:srgbClr val="00294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3C0A50-CEA1-4F75-9687-F6CE37ED6DE5}"/>
              </a:ext>
            </a:extLst>
          </p:cNvPr>
          <p:cNvSpPr txBox="1"/>
          <p:nvPr/>
        </p:nvSpPr>
        <p:spPr>
          <a:xfrm rot="20400000">
            <a:off x="7684419" y="1767038"/>
            <a:ext cx="16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00294A"/>
                </a:solidFill>
              </a:rPr>
              <a:t>diffracted</a:t>
            </a:r>
            <a:r>
              <a:rPr lang="fr-FR" dirty="0">
                <a:solidFill>
                  <a:srgbClr val="00294A"/>
                </a:solidFill>
              </a:rPr>
              <a:t> </a:t>
            </a:r>
            <a:r>
              <a:rPr lang="fr-FR" dirty="0" err="1">
                <a:solidFill>
                  <a:srgbClr val="00294A"/>
                </a:solidFill>
              </a:rPr>
              <a:t>beam</a:t>
            </a:r>
            <a:endParaRPr lang="fr-FR" dirty="0">
              <a:solidFill>
                <a:srgbClr val="00294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FC89E-56A7-41C9-9B2C-D79BFCFDB45D}"/>
              </a:ext>
            </a:extLst>
          </p:cNvPr>
          <p:cNvSpPr txBox="1"/>
          <p:nvPr/>
        </p:nvSpPr>
        <p:spPr>
          <a:xfrm>
            <a:off x="985819" y="2257535"/>
            <a:ext cx="1043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94A"/>
                </a:solidFill>
              </a:rPr>
              <a:t>1</a:t>
            </a:r>
            <a:r>
              <a:rPr lang="fr-FR" baseline="30000" dirty="0">
                <a:solidFill>
                  <a:srgbClr val="00294A"/>
                </a:solidFill>
              </a:rPr>
              <a:t>st </a:t>
            </a:r>
            <a:r>
              <a:rPr lang="fr-FR" dirty="0" err="1">
                <a:solidFill>
                  <a:srgbClr val="00294A"/>
                </a:solidFill>
              </a:rPr>
              <a:t>mirror</a:t>
            </a:r>
            <a:endParaRPr lang="fr-FR" dirty="0">
              <a:solidFill>
                <a:srgbClr val="00294A"/>
              </a:solidFill>
            </a:endParaRPr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5908DB6C-406D-4F2D-89EA-C400BF895DB1}"/>
              </a:ext>
            </a:extLst>
          </p:cNvPr>
          <p:cNvSpPr/>
          <p:nvPr/>
        </p:nvSpPr>
        <p:spPr>
          <a:xfrm>
            <a:off x="3680859" y="2662460"/>
            <a:ext cx="658842" cy="170195"/>
          </a:xfrm>
          <a:prstGeom prst="cube">
            <a:avLst>
              <a:gd name="adj" fmla="val 55684"/>
            </a:avLst>
          </a:prstGeom>
          <a:solidFill>
            <a:srgbClr val="D0CECE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7928E8-2137-413C-836B-0C3E0F6AA49A}"/>
              </a:ext>
            </a:extLst>
          </p:cNvPr>
          <p:cNvSpPr/>
          <p:nvPr/>
        </p:nvSpPr>
        <p:spPr>
          <a:xfrm>
            <a:off x="2997604" y="1918590"/>
            <a:ext cx="1260000" cy="12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EDB787B5-2673-47C9-BA6B-4F5C972BB9A3}"/>
              </a:ext>
            </a:extLst>
          </p:cNvPr>
          <p:cNvSpPr/>
          <p:nvPr/>
        </p:nvSpPr>
        <p:spPr>
          <a:xfrm rot="600000">
            <a:off x="1131359" y="2695126"/>
            <a:ext cx="1497652" cy="386880"/>
          </a:xfrm>
          <a:prstGeom prst="cube">
            <a:avLst>
              <a:gd name="adj" fmla="val 55684"/>
            </a:avLst>
          </a:prstGeom>
          <a:solidFill>
            <a:srgbClr val="D0CECE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5D67BE19-D079-4DD3-A360-102EFF700159}"/>
              </a:ext>
            </a:extLst>
          </p:cNvPr>
          <p:cNvSpPr/>
          <p:nvPr/>
        </p:nvSpPr>
        <p:spPr>
          <a:xfrm rot="10800000">
            <a:off x="2907007" y="2274581"/>
            <a:ext cx="658842" cy="170195"/>
          </a:xfrm>
          <a:prstGeom prst="cube">
            <a:avLst>
              <a:gd name="adj" fmla="val 55684"/>
            </a:avLst>
          </a:prstGeom>
          <a:solidFill>
            <a:srgbClr val="D0CECE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072390-3A57-4A4C-AE0F-A2A9FEC11F89}"/>
              </a:ext>
            </a:extLst>
          </p:cNvPr>
          <p:cNvCxnSpPr>
            <a:cxnSpLocks/>
          </p:cNvCxnSpPr>
          <p:nvPr/>
        </p:nvCxnSpPr>
        <p:spPr>
          <a:xfrm flipV="1">
            <a:off x="1805276" y="2403087"/>
            <a:ext cx="1295778" cy="3782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A145D8-8EA0-4884-9C7C-9313D38D1134}"/>
              </a:ext>
            </a:extLst>
          </p:cNvPr>
          <p:cNvCxnSpPr>
            <a:cxnSpLocks/>
          </p:cNvCxnSpPr>
          <p:nvPr/>
        </p:nvCxnSpPr>
        <p:spPr>
          <a:xfrm flipV="1">
            <a:off x="1997953" y="2403087"/>
            <a:ext cx="1412705" cy="41667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6FD1B1-85A8-4776-9E71-05C010507520}"/>
              </a:ext>
            </a:extLst>
          </p:cNvPr>
          <p:cNvCxnSpPr>
            <a:cxnSpLocks/>
          </p:cNvCxnSpPr>
          <p:nvPr/>
        </p:nvCxnSpPr>
        <p:spPr>
          <a:xfrm>
            <a:off x="3393472" y="2399757"/>
            <a:ext cx="582105" cy="2673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6707CE-1E44-40B0-8AF9-2A13035EEC7B}"/>
              </a:ext>
            </a:extLst>
          </p:cNvPr>
          <p:cNvCxnSpPr>
            <a:cxnSpLocks/>
          </p:cNvCxnSpPr>
          <p:nvPr/>
        </p:nvCxnSpPr>
        <p:spPr>
          <a:xfrm>
            <a:off x="3096292" y="2406277"/>
            <a:ext cx="720328" cy="30700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C04927-44A2-499D-87DE-4E4421CCCCF7}"/>
              </a:ext>
            </a:extLst>
          </p:cNvPr>
          <p:cNvCxnSpPr>
            <a:cxnSpLocks/>
          </p:cNvCxnSpPr>
          <p:nvPr/>
        </p:nvCxnSpPr>
        <p:spPr>
          <a:xfrm flipV="1">
            <a:off x="3811858" y="2546069"/>
            <a:ext cx="1752844" cy="16842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DFEB3D-5C6F-47E3-9FF2-25230D642FD6}"/>
              </a:ext>
            </a:extLst>
          </p:cNvPr>
          <p:cNvCxnSpPr>
            <a:cxnSpLocks/>
          </p:cNvCxnSpPr>
          <p:nvPr/>
        </p:nvCxnSpPr>
        <p:spPr>
          <a:xfrm flipV="1">
            <a:off x="3970815" y="2515113"/>
            <a:ext cx="1577218" cy="15198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2900CC0-916E-4988-B878-FF4642A1675A}"/>
              </a:ext>
            </a:extLst>
          </p:cNvPr>
          <p:cNvSpPr txBox="1"/>
          <p:nvPr/>
        </p:nvSpPr>
        <p:spPr>
          <a:xfrm>
            <a:off x="2766663" y="1564892"/>
            <a:ext cx="1721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00294A"/>
                </a:solidFill>
              </a:rPr>
              <a:t>monochromator</a:t>
            </a:r>
            <a:endParaRPr lang="fr-FR" dirty="0">
              <a:solidFill>
                <a:srgbClr val="00294A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C2FBBB-D03B-4451-A343-DFF3A4DB00B3}"/>
              </a:ext>
            </a:extLst>
          </p:cNvPr>
          <p:cNvSpPr txBox="1"/>
          <p:nvPr/>
        </p:nvSpPr>
        <p:spPr>
          <a:xfrm>
            <a:off x="4965407" y="1838677"/>
            <a:ext cx="10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94A"/>
                </a:solidFill>
              </a:rPr>
              <a:t>2</a:t>
            </a:r>
            <a:r>
              <a:rPr lang="fr-FR" baseline="30000" dirty="0">
                <a:solidFill>
                  <a:srgbClr val="00294A"/>
                </a:solidFill>
              </a:rPr>
              <a:t>nd </a:t>
            </a:r>
            <a:r>
              <a:rPr lang="fr-FR" dirty="0" err="1">
                <a:solidFill>
                  <a:srgbClr val="00294A"/>
                </a:solidFill>
              </a:rPr>
              <a:t>mirror</a:t>
            </a:r>
            <a:endParaRPr lang="fr-FR" dirty="0">
              <a:solidFill>
                <a:srgbClr val="00294A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30F90-A138-451B-A25E-33821399631C}"/>
              </a:ext>
            </a:extLst>
          </p:cNvPr>
          <p:cNvSpPr txBox="1"/>
          <p:nvPr/>
        </p:nvSpPr>
        <p:spPr>
          <a:xfrm>
            <a:off x="10235792" y="2383366"/>
            <a:ext cx="985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94A"/>
                </a:solidFill>
              </a:rPr>
              <a:t>detector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BC05A5-C6DD-4729-BA93-1AC849B83102}"/>
              </a:ext>
            </a:extLst>
          </p:cNvPr>
          <p:cNvSpPr txBox="1"/>
          <p:nvPr/>
        </p:nvSpPr>
        <p:spPr>
          <a:xfrm>
            <a:off x="2807352" y="1966607"/>
            <a:ext cx="986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94A"/>
                </a:solidFill>
              </a:rPr>
              <a:t>1</a:t>
            </a:r>
            <a:r>
              <a:rPr lang="fr-FR" baseline="30000" dirty="0">
                <a:solidFill>
                  <a:srgbClr val="00294A"/>
                </a:solidFill>
              </a:rPr>
              <a:t>st </a:t>
            </a:r>
            <a:r>
              <a:rPr lang="fr-FR" sz="1600" dirty="0" err="1">
                <a:solidFill>
                  <a:srgbClr val="00294A"/>
                </a:solidFill>
              </a:rPr>
              <a:t>crystal</a:t>
            </a:r>
            <a:endParaRPr lang="fr-FR" dirty="0">
              <a:solidFill>
                <a:srgbClr val="00294A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1AAF0C-4BF9-409A-B218-0E73E80B49F5}"/>
              </a:ext>
            </a:extLst>
          </p:cNvPr>
          <p:cNvSpPr txBox="1"/>
          <p:nvPr/>
        </p:nvSpPr>
        <p:spPr>
          <a:xfrm>
            <a:off x="3727478" y="2763468"/>
            <a:ext cx="1036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94A"/>
                </a:solidFill>
              </a:rPr>
              <a:t>2</a:t>
            </a:r>
            <a:r>
              <a:rPr lang="fr-FR" baseline="30000" dirty="0">
                <a:solidFill>
                  <a:srgbClr val="00294A"/>
                </a:solidFill>
              </a:rPr>
              <a:t>nd </a:t>
            </a:r>
            <a:r>
              <a:rPr lang="fr-FR" sz="1600" dirty="0" err="1">
                <a:solidFill>
                  <a:srgbClr val="00294A"/>
                </a:solidFill>
              </a:rPr>
              <a:t>crystal</a:t>
            </a:r>
            <a:endParaRPr lang="fr-FR" dirty="0">
              <a:solidFill>
                <a:srgbClr val="00294A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A517F9-21EE-4798-B16F-69E3D1BABD16}"/>
              </a:ext>
            </a:extLst>
          </p:cNvPr>
          <p:cNvSpPr txBox="1"/>
          <p:nvPr/>
        </p:nvSpPr>
        <p:spPr>
          <a:xfrm>
            <a:off x="7098514" y="2812944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00294A"/>
                </a:solidFill>
              </a:rPr>
              <a:t>sample</a:t>
            </a:r>
            <a:endParaRPr lang="fr-FR" dirty="0">
              <a:solidFill>
                <a:srgbClr val="00294A"/>
              </a:solidFill>
            </a:endParaRPr>
          </a:p>
        </p:txBody>
      </p:sp>
      <p:sp>
        <p:nvSpPr>
          <p:cNvPr id="30" name="ZoneTexte 48">
            <a:extLst>
              <a:ext uri="{FF2B5EF4-FFF2-40B4-BE49-F238E27FC236}">
                <a16:creationId xmlns:a16="http://schemas.microsoft.com/office/drawing/2014/main" id="{C2080482-8727-46BC-9DDF-83BBD65FA171}"/>
              </a:ext>
            </a:extLst>
          </p:cNvPr>
          <p:cNvSpPr txBox="1"/>
          <p:nvPr/>
        </p:nvSpPr>
        <p:spPr>
          <a:xfrm>
            <a:off x="997407" y="1188781"/>
            <a:ext cx="2779851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>
                <a:solidFill>
                  <a:srgbClr val="00294A"/>
                </a:solidFill>
              </a:rPr>
              <a:t>Upstream</a:t>
            </a:r>
            <a:r>
              <a:rPr lang="fr-FR" b="1" dirty="0">
                <a:solidFill>
                  <a:srgbClr val="00294A"/>
                </a:solidFill>
              </a:rPr>
              <a:t> </a:t>
            </a:r>
            <a:r>
              <a:rPr lang="fr-FR" b="1" dirty="0" err="1">
                <a:solidFill>
                  <a:srgbClr val="00294A"/>
                </a:solidFill>
              </a:rPr>
              <a:t>from</a:t>
            </a:r>
            <a:r>
              <a:rPr lang="fr-FR" b="1" dirty="0">
                <a:solidFill>
                  <a:srgbClr val="00294A"/>
                </a:solidFill>
              </a:rPr>
              <a:t> the </a:t>
            </a:r>
            <a:r>
              <a:rPr lang="fr-FR" b="1" dirty="0" err="1">
                <a:solidFill>
                  <a:srgbClr val="00294A"/>
                </a:solidFill>
              </a:rPr>
              <a:t>sample</a:t>
            </a:r>
            <a:endParaRPr lang="fr-FR" b="1" dirty="0">
              <a:solidFill>
                <a:srgbClr val="00294A"/>
              </a:solidFill>
            </a:endParaRPr>
          </a:p>
        </p:txBody>
      </p:sp>
      <p:sp>
        <p:nvSpPr>
          <p:cNvPr id="31" name="ZoneTexte 48">
            <a:extLst>
              <a:ext uri="{FF2B5EF4-FFF2-40B4-BE49-F238E27FC236}">
                <a16:creationId xmlns:a16="http://schemas.microsoft.com/office/drawing/2014/main" id="{6782AF97-7FBF-404F-AB6A-FA62C5F909EE}"/>
              </a:ext>
            </a:extLst>
          </p:cNvPr>
          <p:cNvSpPr txBox="1"/>
          <p:nvPr/>
        </p:nvSpPr>
        <p:spPr>
          <a:xfrm>
            <a:off x="8067197" y="3835518"/>
            <a:ext cx="3055334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>
                <a:solidFill>
                  <a:srgbClr val="00294A"/>
                </a:solidFill>
              </a:rPr>
              <a:t>Downstream</a:t>
            </a:r>
            <a:r>
              <a:rPr lang="fr-FR" b="1" dirty="0">
                <a:solidFill>
                  <a:srgbClr val="00294A"/>
                </a:solidFill>
              </a:rPr>
              <a:t> </a:t>
            </a:r>
            <a:r>
              <a:rPr lang="fr-FR" b="1" dirty="0" err="1">
                <a:solidFill>
                  <a:srgbClr val="00294A"/>
                </a:solidFill>
              </a:rPr>
              <a:t>from</a:t>
            </a:r>
            <a:r>
              <a:rPr lang="fr-FR" b="1" dirty="0">
                <a:solidFill>
                  <a:srgbClr val="00294A"/>
                </a:solidFill>
              </a:rPr>
              <a:t> the </a:t>
            </a:r>
            <a:r>
              <a:rPr lang="fr-FR" b="1" dirty="0" err="1">
                <a:solidFill>
                  <a:srgbClr val="00294A"/>
                </a:solidFill>
              </a:rPr>
              <a:t>sample</a:t>
            </a:r>
            <a:endParaRPr lang="fr-FR" b="1" dirty="0">
              <a:solidFill>
                <a:srgbClr val="00294A"/>
              </a:solidFill>
            </a:endParaRPr>
          </a:p>
        </p:txBody>
      </p:sp>
      <p:sp>
        <p:nvSpPr>
          <p:cNvPr id="32" name="Parallelogram 35">
            <a:extLst>
              <a:ext uri="{FF2B5EF4-FFF2-40B4-BE49-F238E27FC236}">
                <a16:creationId xmlns:a16="http://schemas.microsoft.com/office/drawing/2014/main" id="{E77061DA-DBC8-4B8A-8F68-69466F367B34}"/>
              </a:ext>
            </a:extLst>
          </p:cNvPr>
          <p:cNvSpPr/>
          <p:nvPr/>
        </p:nvSpPr>
        <p:spPr>
          <a:xfrm>
            <a:off x="-428628" y="-3289"/>
            <a:ext cx="5292000" cy="432000"/>
          </a:xfrm>
          <a:prstGeom prst="parallelogram">
            <a:avLst>
              <a:gd name="adj" fmla="val 99500"/>
            </a:avLst>
          </a:prstGeom>
          <a:solidFill>
            <a:srgbClr val="00294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/>
              <a:t>Use Case: </a:t>
            </a:r>
            <a:r>
              <a:rPr lang="fr-FR" sz="2400" b="1" dirty="0" err="1"/>
              <a:t>Beamline</a:t>
            </a:r>
            <a:r>
              <a:rPr lang="fr-FR" sz="2400" b="1" dirty="0"/>
              <a:t> </a:t>
            </a:r>
            <a:r>
              <a:rPr lang="fr-FR" sz="2400" b="1" dirty="0" err="1"/>
              <a:t>alignment</a:t>
            </a:r>
            <a:endParaRPr lang="en-GB" sz="2400" b="1" dirty="0"/>
          </a:p>
        </p:txBody>
      </p:sp>
      <p:sp>
        <p:nvSpPr>
          <p:cNvPr id="33" name="ZoneTexte 48">
            <a:extLst>
              <a:ext uri="{FF2B5EF4-FFF2-40B4-BE49-F238E27FC236}">
                <a16:creationId xmlns:a16="http://schemas.microsoft.com/office/drawing/2014/main" id="{F2A128B7-EF18-463D-9854-2DFCD7F853D1}"/>
              </a:ext>
            </a:extLst>
          </p:cNvPr>
          <p:cNvSpPr txBox="1"/>
          <p:nvPr/>
        </p:nvSpPr>
        <p:spPr>
          <a:xfrm>
            <a:off x="202495" y="4173866"/>
            <a:ext cx="11469551" cy="1463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rgbClr val="00294A"/>
                </a:solidFill>
              </a:rPr>
              <a:t>Choose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b="1" dirty="0">
                <a:solidFill>
                  <a:srgbClr val="00294A"/>
                </a:solidFill>
              </a:rPr>
              <a:t>Beam Shape </a:t>
            </a:r>
            <a:r>
              <a:rPr lang="fr-FR" sz="2400" dirty="0">
                <a:solidFill>
                  <a:srgbClr val="00294A"/>
                </a:solidFill>
              </a:rPr>
              <a:t>(+ </a:t>
            </a:r>
            <a:r>
              <a:rPr lang="fr-FR" sz="2400" dirty="0" err="1">
                <a:solidFill>
                  <a:srgbClr val="00294A"/>
                </a:solidFill>
              </a:rPr>
              <a:t>maximize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dirty="0" err="1">
                <a:solidFill>
                  <a:srgbClr val="00294A"/>
                </a:solidFill>
              </a:rPr>
              <a:t>intensity</a:t>
            </a:r>
            <a:r>
              <a:rPr lang="fr-FR" sz="2400" dirty="0">
                <a:solidFill>
                  <a:srgbClr val="00294A"/>
                </a:solidFill>
              </a:rPr>
              <a:t>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rgbClr val="00294A"/>
                </a:solidFill>
              </a:rPr>
              <a:t>Often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b="1" dirty="0" err="1">
                <a:solidFill>
                  <a:srgbClr val="00294A"/>
                </a:solidFill>
              </a:rPr>
              <a:t>Iterative</a:t>
            </a:r>
            <a:r>
              <a:rPr lang="fr-FR" sz="2400" b="1" dirty="0">
                <a:solidFill>
                  <a:srgbClr val="00294A"/>
                </a:solidFill>
              </a:rPr>
              <a:t> Process </a:t>
            </a:r>
            <a:r>
              <a:rPr lang="fr-FR" sz="2400" dirty="0" err="1">
                <a:solidFill>
                  <a:srgbClr val="00294A"/>
                </a:solidFill>
              </a:rPr>
              <a:t>with</a:t>
            </a:r>
            <a:r>
              <a:rPr lang="fr-FR" sz="2400" dirty="0">
                <a:solidFill>
                  <a:srgbClr val="00294A"/>
                </a:solidFill>
              </a:rPr>
              <a:t> a lot a </a:t>
            </a:r>
            <a:r>
              <a:rPr lang="fr-FR" sz="2400" dirty="0" err="1">
                <a:solidFill>
                  <a:srgbClr val="00294A"/>
                </a:solidFill>
              </a:rPr>
              <a:t>degrees</a:t>
            </a:r>
            <a:r>
              <a:rPr lang="fr-FR" sz="2400" dirty="0">
                <a:solidFill>
                  <a:srgbClr val="00294A"/>
                </a:solidFill>
              </a:rPr>
              <a:t> of </a:t>
            </a:r>
            <a:r>
              <a:rPr lang="fr-FR" sz="2400" dirty="0" err="1">
                <a:solidFill>
                  <a:srgbClr val="00294A"/>
                </a:solidFill>
              </a:rPr>
              <a:t>freedom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dirty="0">
                <a:solidFill>
                  <a:srgbClr val="00294A"/>
                </a:solidFill>
                <a:sym typeface="Wingdings" panose="05000000000000000000" pitchFamily="2" charset="2"/>
              </a:rPr>
              <a:t> </a:t>
            </a:r>
            <a:r>
              <a:rPr lang="fr-FR" sz="2400" b="1" dirty="0" err="1">
                <a:solidFill>
                  <a:srgbClr val="00294A"/>
                </a:solidFill>
                <a:sym typeface="Wingdings" panose="05000000000000000000" pitchFamily="2" charset="2"/>
              </a:rPr>
              <a:t>takes</a:t>
            </a:r>
            <a:r>
              <a:rPr lang="fr-FR" sz="2400" b="1" dirty="0">
                <a:solidFill>
                  <a:srgbClr val="00294A"/>
                </a:solidFill>
                <a:sym typeface="Wingdings" panose="05000000000000000000" pitchFamily="2" charset="2"/>
              </a:rPr>
              <a:t> a lot of time!!</a:t>
            </a:r>
            <a:endParaRPr lang="fr-FR" sz="2400" b="1" dirty="0">
              <a:solidFill>
                <a:srgbClr val="0029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17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lèche : droite 6">
            <a:extLst>
              <a:ext uri="{FF2B5EF4-FFF2-40B4-BE49-F238E27FC236}">
                <a16:creationId xmlns:a16="http://schemas.microsoft.com/office/drawing/2014/main" id="{8F566780-B197-40A9-B334-16FAFF0238F6}"/>
              </a:ext>
            </a:extLst>
          </p:cNvPr>
          <p:cNvSpPr/>
          <p:nvPr/>
        </p:nvSpPr>
        <p:spPr>
          <a:xfrm>
            <a:off x="1669683" y="5364279"/>
            <a:ext cx="6783437" cy="934073"/>
          </a:xfrm>
          <a:prstGeom prst="rightArrow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2050" name="Picture 2" descr="K-B Mirrors Harness X-rays for Science">
            <a:extLst>
              <a:ext uri="{FF2B5EF4-FFF2-40B4-BE49-F238E27FC236}">
                <a16:creationId xmlns:a16="http://schemas.microsoft.com/office/drawing/2014/main" id="{54FA942E-C359-488F-9194-8150EB49B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364" y="1257292"/>
            <a:ext cx="428625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48">
            <a:extLst>
              <a:ext uri="{FF2B5EF4-FFF2-40B4-BE49-F238E27FC236}">
                <a16:creationId xmlns:a16="http://schemas.microsoft.com/office/drawing/2014/main" id="{188E6AE4-9B97-4294-95A0-0E36D075EDB9}"/>
              </a:ext>
            </a:extLst>
          </p:cNvPr>
          <p:cNvSpPr txBox="1"/>
          <p:nvPr/>
        </p:nvSpPr>
        <p:spPr>
          <a:xfrm>
            <a:off x="292142" y="559615"/>
            <a:ext cx="719338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294A"/>
                </a:solidFill>
              </a:rPr>
              <a:t>A set of </a:t>
            </a:r>
            <a:r>
              <a:rPr lang="fr-FR" sz="2400" b="1" dirty="0" err="1">
                <a:solidFill>
                  <a:srgbClr val="00294A"/>
                </a:solidFill>
              </a:rPr>
              <a:t>Kirkpatrick</a:t>
            </a:r>
            <a:r>
              <a:rPr lang="fr-FR" sz="2400" b="1" dirty="0">
                <a:solidFill>
                  <a:srgbClr val="00294A"/>
                </a:solidFill>
              </a:rPr>
              <a:t>-Baez </a:t>
            </a:r>
            <a:r>
              <a:rPr lang="fr-FR" sz="2400" b="1" dirty="0" err="1">
                <a:solidFill>
                  <a:srgbClr val="00294A"/>
                </a:solidFill>
              </a:rPr>
              <a:t>mirrors</a:t>
            </a:r>
            <a:r>
              <a:rPr lang="fr-FR" sz="2400" b="1" dirty="0">
                <a:solidFill>
                  <a:srgbClr val="00294A"/>
                </a:solidFill>
              </a:rPr>
              <a:t> </a:t>
            </a:r>
          </a:p>
        </p:txBody>
      </p:sp>
      <p:sp>
        <p:nvSpPr>
          <p:cNvPr id="4" name="Parallelogram 35">
            <a:extLst>
              <a:ext uri="{FF2B5EF4-FFF2-40B4-BE49-F238E27FC236}">
                <a16:creationId xmlns:a16="http://schemas.microsoft.com/office/drawing/2014/main" id="{0E6F8305-35D2-4D12-A1AB-A01E2BF0F74A}"/>
              </a:ext>
            </a:extLst>
          </p:cNvPr>
          <p:cNvSpPr/>
          <p:nvPr/>
        </p:nvSpPr>
        <p:spPr>
          <a:xfrm>
            <a:off x="-428628" y="-3289"/>
            <a:ext cx="5436000" cy="432000"/>
          </a:xfrm>
          <a:prstGeom prst="parallelogram">
            <a:avLst>
              <a:gd name="adj" fmla="val 99500"/>
            </a:avLst>
          </a:prstGeom>
          <a:solidFill>
            <a:srgbClr val="00294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 err="1"/>
              <a:t>Simplified</a:t>
            </a:r>
            <a:r>
              <a:rPr lang="fr-FR" sz="2400" b="1" dirty="0"/>
              <a:t> Use Case: KB </a:t>
            </a:r>
            <a:r>
              <a:rPr lang="fr-FR" sz="2400" b="1" dirty="0" err="1"/>
              <a:t>mirrors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48">
                <a:extLst>
                  <a:ext uri="{FF2B5EF4-FFF2-40B4-BE49-F238E27FC236}">
                    <a16:creationId xmlns:a16="http://schemas.microsoft.com/office/drawing/2014/main" id="{3B024C26-1F7F-4E37-B152-AC62989252AB}"/>
                  </a:ext>
                </a:extLst>
              </p:cNvPr>
              <p:cNvSpPr txBox="1"/>
              <p:nvPr/>
            </p:nvSpPr>
            <p:spPr>
              <a:xfrm>
                <a:off x="5551250" y="519054"/>
                <a:ext cx="3988018" cy="2589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2400" b="1" dirty="0" err="1">
                    <a:solidFill>
                      <a:srgbClr val="00294A"/>
                    </a:solidFill>
                  </a:rPr>
                  <a:t>Parameters</a:t>
                </a:r>
                <a:r>
                  <a:rPr lang="fr-FR" sz="2400" b="1" dirty="0">
                    <a:solidFill>
                      <a:srgbClr val="00294A"/>
                    </a:solidFill>
                  </a:rPr>
                  <a:t>:</a:t>
                </a:r>
                <a:r>
                  <a:rPr lang="fr-FR" sz="2400" dirty="0">
                    <a:solidFill>
                      <a:srgbClr val="00294A"/>
                    </a:solidFill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2400" i="1">
                                    <a:solidFill>
                                      <a:srgbClr val="00294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2400" i="1">
                                    <a:solidFill>
                                      <a:srgbClr val="00294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r>
                  <a:rPr lang="fr-FR" sz="2400" b="1" dirty="0">
                    <a:solidFill>
                      <a:srgbClr val="00294A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ZoneTexte 48">
                <a:extLst>
                  <a:ext uri="{FF2B5EF4-FFF2-40B4-BE49-F238E27FC236}">
                    <a16:creationId xmlns:a16="http://schemas.microsoft.com/office/drawing/2014/main" id="{3B024C26-1F7F-4E37-B152-AC6298925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250" y="519054"/>
                <a:ext cx="3988018" cy="2589555"/>
              </a:xfrm>
              <a:prstGeom prst="rect">
                <a:avLst/>
              </a:prstGeom>
              <a:blipFill>
                <a:blip r:embed="rId3"/>
                <a:stretch>
                  <a:fillRect l="-21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5EDF70-C193-4C24-95A9-00D29285E0F7}"/>
              </a:ext>
            </a:extLst>
          </p:cNvPr>
          <p:cNvCxnSpPr>
            <a:cxnSpLocks/>
          </p:cNvCxnSpPr>
          <p:nvPr/>
        </p:nvCxnSpPr>
        <p:spPr>
          <a:xfrm flipH="1" flipV="1">
            <a:off x="4211265" y="1257292"/>
            <a:ext cx="797859" cy="610421"/>
          </a:xfrm>
          <a:prstGeom prst="line">
            <a:avLst/>
          </a:prstGeom>
          <a:ln w="12700">
            <a:solidFill>
              <a:srgbClr val="0029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4A647E-4F40-4EF9-B79C-DED227340715}"/>
              </a:ext>
            </a:extLst>
          </p:cNvPr>
          <p:cNvCxnSpPr>
            <a:cxnSpLocks/>
          </p:cNvCxnSpPr>
          <p:nvPr/>
        </p:nvCxnSpPr>
        <p:spPr>
          <a:xfrm flipH="1" flipV="1">
            <a:off x="1640786" y="2618733"/>
            <a:ext cx="797858" cy="610420"/>
          </a:xfrm>
          <a:prstGeom prst="line">
            <a:avLst/>
          </a:prstGeom>
          <a:ln w="12700">
            <a:solidFill>
              <a:srgbClr val="0029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1B6AE67F-CC35-4967-AEE7-BECD64AC56A3}"/>
              </a:ext>
            </a:extLst>
          </p:cNvPr>
          <p:cNvSpPr/>
          <p:nvPr/>
        </p:nvSpPr>
        <p:spPr>
          <a:xfrm rot="17095396">
            <a:off x="4246327" y="1525146"/>
            <a:ext cx="425584" cy="283962"/>
          </a:xfrm>
          <a:prstGeom prst="arc">
            <a:avLst>
              <a:gd name="adj1" fmla="val 16200000"/>
              <a:gd name="adj2" fmla="val 20686538"/>
            </a:avLst>
          </a:prstGeom>
          <a:ln w="9525">
            <a:solidFill>
              <a:srgbClr val="0029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FB4C2A5-62E9-4150-B7F6-21328EA107D5}"/>
              </a:ext>
            </a:extLst>
          </p:cNvPr>
          <p:cNvSpPr/>
          <p:nvPr/>
        </p:nvSpPr>
        <p:spPr>
          <a:xfrm>
            <a:off x="3256280" y="1549038"/>
            <a:ext cx="1667877" cy="898748"/>
          </a:xfrm>
          <a:custGeom>
            <a:avLst/>
            <a:gdLst>
              <a:gd name="connsiteX0" fmla="*/ 0 w 1667877"/>
              <a:gd name="connsiteY0" fmla="*/ 106268 h 898748"/>
              <a:gd name="connsiteX1" fmla="*/ 223520 w 1667877"/>
              <a:gd name="connsiteY1" fmla="*/ 4668 h 898748"/>
              <a:gd name="connsiteX2" fmla="*/ 421640 w 1667877"/>
              <a:gd name="connsiteY2" fmla="*/ 19908 h 898748"/>
              <a:gd name="connsiteX3" fmla="*/ 665480 w 1667877"/>
              <a:gd name="connsiteY3" fmla="*/ 45308 h 898748"/>
              <a:gd name="connsiteX4" fmla="*/ 970280 w 1667877"/>
              <a:gd name="connsiteY4" fmla="*/ 116428 h 898748"/>
              <a:gd name="connsiteX5" fmla="*/ 1209040 w 1667877"/>
              <a:gd name="connsiteY5" fmla="*/ 238348 h 898748"/>
              <a:gd name="connsiteX6" fmla="*/ 1478280 w 1667877"/>
              <a:gd name="connsiteY6" fmla="*/ 416148 h 898748"/>
              <a:gd name="connsiteX7" fmla="*/ 1595120 w 1667877"/>
              <a:gd name="connsiteY7" fmla="*/ 558388 h 898748"/>
              <a:gd name="connsiteX8" fmla="*/ 1661160 w 1667877"/>
              <a:gd name="connsiteY8" fmla="*/ 771748 h 898748"/>
              <a:gd name="connsiteX9" fmla="*/ 1666240 w 1667877"/>
              <a:gd name="connsiteY9" fmla="*/ 873348 h 898748"/>
              <a:gd name="connsiteX10" fmla="*/ 1666240 w 1667877"/>
              <a:gd name="connsiteY10" fmla="*/ 898748 h 89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877" h="898748">
                <a:moveTo>
                  <a:pt x="0" y="106268"/>
                </a:moveTo>
                <a:cubicBezTo>
                  <a:pt x="76623" y="62664"/>
                  <a:pt x="153247" y="19061"/>
                  <a:pt x="223520" y="4668"/>
                </a:cubicBezTo>
                <a:cubicBezTo>
                  <a:pt x="293793" y="-9725"/>
                  <a:pt x="347980" y="13135"/>
                  <a:pt x="421640" y="19908"/>
                </a:cubicBezTo>
                <a:cubicBezTo>
                  <a:pt x="495300" y="26681"/>
                  <a:pt x="574040" y="29221"/>
                  <a:pt x="665480" y="45308"/>
                </a:cubicBezTo>
                <a:cubicBezTo>
                  <a:pt x="756920" y="61395"/>
                  <a:pt x="879687" y="84255"/>
                  <a:pt x="970280" y="116428"/>
                </a:cubicBezTo>
                <a:cubicBezTo>
                  <a:pt x="1060873" y="148601"/>
                  <a:pt x="1124373" y="188395"/>
                  <a:pt x="1209040" y="238348"/>
                </a:cubicBezTo>
                <a:cubicBezTo>
                  <a:pt x="1293707" y="288301"/>
                  <a:pt x="1413933" y="362808"/>
                  <a:pt x="1478280" y="416148"/>
                </a:cubicBezTo>
                <a:cubicBezTo>
                  <a:pt x="1542627" y="469488"/>
                  <a:pt x="1564640" y="499121"/>
                  <a:pt x="1595120" y="558388"/>
                </a:cubicBezTo>
                <a:cubicBezTo>
                  <a:pt x="1625600" y="617655"/>
                  <a:pt x="1649307" y="719255"/>
                  <a:pt x="1661160" y="771748"/>
                </a:cubicBezTo>
                <a:cubicBezTo>
                  <a:pt x="1673013" y="824241"/>
                  <a:pt x="1665393" y="852181"/>
                  <a:pt x="1666240" y="873348"/>
                </a:cubicBezTo>
                <a:cubicBezTo>
                  <a:pt x="1667087" y="894515"/>
                  <a:pt x="1666663" y="896631"/>
                  <a:pt x="1666240" y="898748"/>
                </a:cubicBezTo>
              </a:path>
            </a:pathLst>
          </a:custGeom>
          <a:noFill/>
          <a:ln>
            <a:solidFill>
              <a:srgbClr val="002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9AC9D2B-2E15-4342-B900-CA2C50FDFD49}"/>
              </a:ext>
            </a:extLst>
          </p:cNvPr>
          <p:cNvSpPr/>
          <p:nvPr/>
        </p:nvSpPr>
        <p:spPr>
          <a:xfrm>
            <a:off x="1598112" y="2092186"/>
            <a:ext cx="1739448" cy="904404"/>
          </a:xfrm>
          <a:custGeom>
            <a:avLst/>
            <a:gdLst>
              <a:gd name="connsiteX0" fmla="*/ 17328 w 1739448"/>
              <a:gd name="connsiteY0" fmla="*/ 0 h 904404"/>
              <a:gd name="connsiteX1" fmla="*/ 68128 w 1739448"/>
              <a:gd name="connsiteY1" fmla="*/ 274320 h 904404"/>
              <a:gd name="connsiteX2" fmla="*/ 565968 w 1739448"/>
              <a:gd name="connsiteY2" fmla="*/ 655320 h 904404"/>
              <a:gd name="connsiteX3" fmla="*/ 1114608 w 1739448"/>
              <a:gd name="connsiteY3" fmla="*/ 838200 h 904404"/>
              <a:gd name="connsiteX4" fmla="*/ 1449888 w 1739448"/>
              <a:gd name="connsiteY4" fmla="*/ 904240 h 904404"/>
              <a:gd name="connsiteX5" fmla="*/ 1739448 w 1739448"/>
              <a:gd name="connsiteY5" fmla="*/ 822960 h 90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9448" h="904404">
                <a:moveTo>
                  <a:pt x="17328" y="0"/>
                </a:moveTo>
                <a:cubicBezTo>
                  <a:pt x="-2992" y="82550"/>
                  <a:pt x="-23312" y="165100"/>
                  <a:pt x="68128" y="274320"/>
                </a:cubicBezTo>
                <a:cubicBezTo>
                  <a:pt x="159568" y="383540"/>
                  <a:pt x="391555" y="561340"/>
                  <a:pt x="565968" y="655320"/>
                </a:cubicBezTo>
                <a:cubicBezTo>
                  <a:pt x="740381" y="749300"/>
                  <a:pt x="967288" y="796713"/>
                  <a:pt x="1114608" y="838200"/>
                </a:cubicBezTo>
                <a:cubicBezTo>
                  <a:pt x="1261928" y="879687"/>
                  <a:pt x="1345748" y="906780"/>
                  <a:pt x="1449888" y="904240"/>
                </a:cubicBezTo>
                <a:cubicBezTo>
                  <a:pt x="1554028" y="901700"/>
                  <a:pt x="1646738" y="862330"/>
                  <a:pt x="1739448" y="822960"/>
                </a:cubicBezTo>
              </a:path>
            </a:pathLst>
          </a:custGeom>
          <a:noFill/>
          <a:ln>
            <a:solidFill>
              <a:srgbClr val="002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BED51A5-5EF2-4A49-9869-7BC71F4AC4F2}"/>
              </a:ext>
            </a:extLst>
          </p:cNvPr>
          <p:cNvSpPr/>
          <p:nvPr/>
        </p:nvSpPr>
        <p:spPr>
          <a:xfrm rot="5612280">
            <a:off x="1157112" y="2026811"/>
            <a:ext cx="1291269" cy="904404"/>
          </a:xfrm>
          <a:prstGeom prst="arc">
            <a:avLst>
              <a:gd name="adj1" fmla="val 18655490"/>
              <a:gd name="adj2" fmla="val 19490794"/>
            </a:avLst>
          </a:prstGeom>
          <a:ln w="9525">
            <a:solidFill>
              <a:srgbClr val="0029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7DA4558-BC2B-44F3-8BEE-E7EE0A32FFBD}"/>
                  </a:ext>
                </a:extLst>
              </p:cNvPr>
              <p:cNvSpPr txBox="1"/>
              <p:nvPr/>
            </p:nvSpPr>
            <p:spPr>
              <a:xfrm>
                <a:off x="1186602" y="1859623"/>
                <a:ext cx="483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00294A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7DA4558-BC2B-44F3-8BEE-E7EE0A32F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602" y="1859623"/>
                <a:ext cx="48308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F61420-62C0-472F-955E-EAA8CBCC0004}"/>
                  </a:ext>
                </a:extLst>
              </p:cNvPr>
              <p:cNvSpPr txBox="1"/>
              <p:nvPr/>
            </p:nvSpPr>
            <p:spPr>
              <a:xfrm>
                <a:off x="2082759" y="2739277"/>
                <a:ext cx="461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00294A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F61420-62C0-472F-955E-EAA8CBCC0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759" y="2739277"/>
                <a:ext cx="4612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1396B62-8677-4DE7-993A-52445D0217EB}"/>
                  </a:ext>
                </a:extLst>
              </p:cNvPr>
              <p:cNvSpPr txBox="1"/>
              <p:nvPr/>
            </p:nvSpPr>
            <p:spPr>
              <a:xfrm>
                <a:off x="2854479" y="1465030"/>
                <a:ext cx="488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00294A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1396B62-8677-4DE7-993A-52445D021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479" y="1465030"/>
                <a:ext cx="4884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0E8DAD6-C72F-4EF7-B0D6-EBF1A95F4B8F}"/>
                  </a:ext>
                </a:extLst>
              </p:cNvPr>
              <p:cNvSpPr txBox="1"/>
              <p:nvPr/>
            </p:nvSpPr>
            <p:spPr>
              <a:xfrm>
                <a:off x="3964964" y="1240282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294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00294A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0E8DAD6-C72F-4EF7-B0D6-EBF1A95F4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964" y="1240282"/>
                <a:ext cx="4666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ZoneTexte 48">
            <a:extLst>
              <a:ext uri="{FF2B5EF4-FFF2-40B4-BE49-F238E27FC236}">
                <a16:creationId xmlns:a16="http://schemas.microsoft.com/office/drawing/2014/main" id="{BDDBBB54-E695-41CC-A565-168F3D38C26A}"/>
              </a:ext>
            </a:extLst>
          </p:cNvPr>
          <p:cNvSpPr txBox="1"/>
          <p:nvPr/>
        </p:nvSpPr>
        <p:spPr>
          <a:xfrm>
            <a:off x="90892" y="1310411"/>
            <a:ext cx="214414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>
                <a:solidFill>
                  <a:srgbClr val="00294A"/>
                </a:solidFill>
              </a:rPr>
              <a:t>Output of DCM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0376F28A-F7C5-4579-BC12-2220D1F3349D}"/>
              </a:ext>
            </a:extLst>
          </p:cNvPr>
          <p:cNvSpPr txBox="1"/>
          <p:nvPr/>
        </p:nvSpPr>
        <p:spPr>
          <a:xfrm>
            <a:off x="4770148" y="3891912"/>
            <a:ext cx="974925" cy="4648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 err="1">
                <a:solidFill>
                  <a:srgbClr val="00294A"/>
                </a:solidFill>
              </a:rPr>
              <a:t>Sample</a:t>
            </a:r>
            <a:endParaRPr lang="fr-FR" dirty="0">
              <a:solidFill>
                <a:srgbClr val="00294A"/>
              </a:solidFill>
            </a:endParaRPr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6E6D0148-AD86-4815-846C-568652FFB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102" y="883733"/>
            <a:ext cx="2806960" cy="280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ZoneTexte 48">
            <a:extLst>
              <a:ext uri="{FF2B5EF4-FFF2-40B4-BE49-F238E27FC236}">
                <a16:creationId xmlns:a16="http://schemas.microsoft.com/office/drawing/2014/main" id="{1200FC86-3354-4619-8697-233796101E78}"/>
              </a:ext>
            </a:extLst>
          </p:cNvPr>
          <p:cNvSpPr txBox="1"/>
          <p:nvPr/>
        </p:nvSpPr>
        <p:spPr>
          <a:xfrm>
            <a:off x="8680152" y="377441"/>
            <a:ext cx="351184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00294A"/>
                </a:solidFill>
              </a:rPr>
              <a:t>Wide Range of </a:t>
            </a:r>
            <a:r>
              <a:rPr lang="fr-FR" sz="2000" dirty="0" err="1">
                <a:solidFill>
                  <a:srgbClr val="00294A"/>
                </a:solidFill>
              </a:rPr>
              <a:t>different</a:t>
            </a:r>
            <a:r>
              <a:rPr lang="fr-FR" sz="2000" dirty="0">
                <a:solidFill>
                  <a:srgbClr val="00294A"/>
                </a:solidFill>
              </a:rPr>
              <a:t> </a:t>
            </a:r>
            <a:r>
              <a:rPr lang="fr-FR" sz="2000" dirty="0" err="1">
                <a:solidFill>
                  <a:srgbClr val="00294A"/>
                </a:solidFill>
              </a:rPr>
              <a:t>Beams</a:t>
            </a:r>
            <a:endParaRPr lang="fr-FR" sz="2000" dirty="0">
              <a:solidFill>
                <a:srgbClr val="00294A"/>
              </a:solidFill>
            </a:endParaRPr>
          </a:p>
        </p:txBody>
      </p:sp>
      <p:sp>
        <p:nvSpPr>
          <p:cNvPr id="55" name="ZoneTexte 48">
            <a:extLst>
              <a:ext uri="{FF2B5EF4-FFF2-40B4-BE49-F238E27FC236}">
                <a16:creationId xmlns:a16="http://schemas.microsoft.com/office/drawing/2014/main" id="{AD7BAF36-0281-4E92-9767-E1DC16EFCC29}"/>
              </a:ext>
            </a:extLst>
          </p:cNvPr>
          <p:cNvSpPr txBox="1"/>
          <p:nvPr/>
        </p:nvSpPr>
        <p:spPr>
          <a:xfrm>
            <a:off x="292142" y="4435361"/>
            <a:ext cx="807969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294A"/>
                </a:solidFill>
              </a:rPr>
              <a:t>The User </a:t>
            </a:r>
            <a:r>
              <a:rPr lang="fr-FR" sz="2400" b="1" dirty="0" err="1">
                <a:solidFill>
                  <a:srgbClr val="00294A"/>
                </a:solidFill>
              </a:rPr>
              <a:t>define</a:t>
            </a:r>
            <a:r>
              <a:rPr lang="fr-FR" sz="2400" b="1" dirty="0">
                <a:solidFill>
                  <a:srgbClr val="00294A"/>
                </a:solidFill>
              </a:rPr>
              <a:t> an </a:t>
            </a:r>
            <a:r>
              <a:rPr lang="fr-FR" sz="2400" b="1" dirty="0" err="1">
                <a:solidFill>
                  <a:srgbClr val="00294A"/>
                </a:solidFill>
              </a:rPr>
              <a:t>experiment</a:t>
            </a:r>
            <a:r>
              <a:rPr lang="fr-FR" sz="2400" b="1" dirty="0">
                <a:solidFill>
                  <a:srgbClr val="00294A"/>
                </a:solidFill>
              </a:rPr>
              <a:t> </a:t>
            </a:r>
            <a:r>
              <a:rPr lang="fr-FR" sz="2400" b="1" dirty="0" err="1">
                <a:solidFill>
                  <a:srgbClr val="00294A"/>
                </a:solidFill>
              </a:rPr>
              <a:t>that</a:t>
            </a:r>
            <a:r>
              <a:rPr lang="fr-FR" sz="2400" b="1" dirty="0">
                <a:solidFill>
                  <a:srgbClr val="00294A"/>
                </a:solidFill>
              </a:rPr>
              <a:t> </a:t>
            </a:r>
            <a:r>
              <a:rPr lang="fr-FR" sz="2400" b="1" dirty="0" err="1">
                <a:solidFill>
                  <a:srgbClr val="00294A"/>
                </a:solidFill>
              </a:rPr>
              <a:t>needs</a:t>
            </a:r>
            <a:r>
              <a:rPr lang="fr-FR" sz="2400" b="1" dirty="0">
                <a:solidFill>
                  <a:srgbClr val="00294A"/>
                </a:solidFill>
              </a:rPr>
              <a:t> a certain </a:t>
            </a:r>
            <a:r>
              <a:rPr lang="fr-FR" sz="2400" b="1" dirty="0" err="1">
                <a:solidFill>
                  <a:srgbClr val="00294A"/>
                </a:solidFill>
              </a:rPr>
              <a:t>beam</a:t>
            </a:r>
            <a:r>
              <a:rPr lang="fr-FR" sz="2400" b="1" dirty="0">
                <a:solidFill>
                  <a:srgbClr val="00294A"/>
                </a:solidFill>
              </a:rPr>
              <a:t>: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2E1E508-53B4-4EAE-8EDD-4D546137DA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9957" y="5315015"/>
            <a:ext cx="1104996" cy="1120237"/>
          </a:xfrm>
          <a:prstGeom prst="rect">
            <a:avLst/>
          </a:prstGeom>
        </p:spPr>
      </p:pic>
      <p:sp>
        <p:nvSpPr>
          <p:cNvPr id="58" name="ZoneTexte 48">
            <a:extLst>
              <a:ext uri="{FF2B5EF4-FFF2-40B4-BE49-F238E27FC236}">
                <a16:creationId xmlns:a16="http://schemas.microsoft.com/office/drawing/2014/main" id="{981A1AE7-DBE4-46FD-A3DF-76550C783FB0}"/>
              </a:ext>
            </a:extLst>
          </p:cNvPr>
          <p:cNvSpPr txBox="1"/>
          <p:nvPr/>
        </p:nvSpPr>
        <p:spPr>
          <a:xfrm>
            <a:off x="615526" y="5515542"/>
            <a:ext cx="214414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>
                <a:solidFill>
                  <a:srgbClr val="00294A"/>
                </a:solidFill>
              </a:rPr>
              <a:t>dX</a:t>
            </a:r>
            <a:r>
              <a:rPr lang="fr-FR" sz="2000" dirty="0">
                <a:solidFill>
                  <a:srgbClr val="00294A"/>
                </a:solidFill>
              </a:rPr>
              <a:t>, </a:t>
            </a:r>
            <a:r>
              <a:rPr lang="fr-FR" sz="2000" dirty="0" err="1">
                <a:solidFill>
                  <a:srgbClr val="00294A"/>
                </a:solidFill>
              </a:rPr>
              <a:t>dY</a:t>
            </a:r>
            <a:endParaRPr lang="fr-FR" sz="2000" dirty="0">
              <a:solidFill>
                <a:srgbClr val="00294A"/>
              </a:solidFill>
            </a:endParaRPr>
          </a:p>
        </p:txBody>
      </p:sp>
      <p:pic>
        <p:nvPicPr>
          <p:cNvPr id="59" name="Image 8">
            <a:extLst>
              <a:ext uri="{FF2B5EF4-FFF2-40B4-BE49-F238E27FC236}">
                <a16:creationId xmlns:a16="http://schemas.microsoft.com/office/drawing/2014/main" id="{D07A9772-45FC-4722-A5F5-F0101EF463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7205" y="5107865"/>
            <a:ext cx="2261850" cy="15187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308C3E0-0160-4C75-BEF2-A264A289E2CC}"/>
                  </a:ext>
                </a:extLst>
              </p:cNvPr>
              <p:cNvSpPr/>
              <p:nvPr/>
            </p:nvSpPr>
            <p:spPr>
              <a:xfrm>
                <a:off x="8371840" y="5101075"/>
                <a:ext cx="699294" cy="13408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dirty="0">
                    <a:solidFill>
                      <a:srgbClr val="00294A"/>
                    </a:solidFill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solidFill>
                                      <a:srgbClr val="00294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>
                                    <a:solidFill>
                                      <a:srgbClr val="00294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00294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308C3E0-0160-4C75-BEF2-A264A289E2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840" y="5101075"/>
                <a:ext cx="699294" cy="13408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ZoneTexte 48">
            <a:extLst>
              <a:ext uri="{FF2B5EF4-FFF2-40B4-BE49-F238E27FC236}">
                <a16:creationId xmlns:a16="http://schemas.microsoft.com/office/drawing/2014/main" id="{903430C9-DC51-4329-93CD-1F18B1BB2A06}"/>
              </a:ext>
            </a:extLst>
          </p:cNvPr>
          <p:cNvSpPr txBox="1"/>
          <p:nvPr/>
        </p:nvSpPr>
        <p:spPr>
          <a:xfrm>
            <a:off x="9006779" y="5493217"/>
            <a:ext cx="214414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00294A"/>
                </a:solidFill>
              </a:rPr>
              <a:t>KB </a:t>
            </a:r>
            <a:r>
              <a:rPr lang="fr-FR" sz="2000" dirty="0" err="1">
                <a:solidFill>
                  <a:srgbClr val="00294A"/>
                </a:solidFill>
              </a:rPr>
              <a:t>Parameters</a:t>
            </a:r>
            <a:endParaRPr lang="fr-FR" sz="2000" dirty="0">
              <a:solidFill>
                <a:srgbClr val="00294A"/>
              </a:solidFill>
            </a:endParaRPr>
          </a:p>
        </p:txBody>
      </p:sp>
      <p:cxnSp>
        <p:nvCxnSpPr>
          <p:cNvPr id="66" name="Connecteur droit avec flèche 10">
            <a:extLst>
              <a:ext uri="{FF2B5EF4-FFF2-40B4-BE49-F238E27FC236}">
                <a16:creationId xmlns:a16="http://schemas.microsoft.com/office/drawing/2014/main" id="{5236D696-3A66-425A-8BF3-02E87E133E80}"/>
              </a:ext>
            </a:extLst>
          </p:cNvPr>
          <p:cNvCxnSpPr>
            <a:cxnSpLocks/>
          </p:cNvCxnSpPr>
          <p:nvPr/>
        </p:nvCxnSpPr>
        <p:spPr>
          <a:xfrm>
            <a:off x="7116874" y="5816056"/>
            <a:ext cx="1030080" cy="0"/>
          </a:xfrm>
          <a:prstGeom prst="straightConnector1">
            <a:avLst/>
          </a:prstGeom>
          <a:ln w="19050">
            <a:solidFill>
              <a:srgbClr val="00294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10">
            <a:extLst>
              <a:ext uri="{FF2B5EF4-FFF2-40B4-BE49-F238E27FC236}">
                <a16:creationId xmlns:a16="http://schemas.microsoft.com/office/drawing/2014/main" id="{C932CE2E-134E-4907-9DE9-F6A2C123BEB0}"/>
              </a:ext>
            </a:extLst>
          </p:cNvPr>
          <p:cNvCxnSpPr>
            <a:cxnSpLocks/>
          </p:cNvCxnSpPr>
          <p:nvPr/>
        </p:nvCxnSpPr>
        <p:spPr>
          <a:xfrm>
            <a:off x="1513959" y="5816056"/>
            <a:ext cx="924685" cy="0"/>
          </a:xfrm>
          <a:prstGeom prst="straightConnector1">
            <a:avLst/>
          </a:prstGeom>
          <a:ln w="19050">
            <a:solidFill>
              <a:srgbClr val="00294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10">
            <a:extLst>
              <a:ext uri="{FF2B5EF4-FFF2-40B4-BE49-F238E27FC236}">
                <a16:creationId xmlns:a16="http://schemas.microsoft.com/office/drawing/2014/main" id="{5B538178-9372-43DD-8E05-55C427F6595C}"/>
              </a:ext>
            </a:extLst>
          </p:cNvPr>
          <p:cNvCxnSpPr>
            <a:cxnSpLocks/>
          </p:cNvCxnSpPr>
          <p:nvPr/>
        </p:nvCxnSpPr>
        <p:spPr>
          <a:xfrm>
            <a:off x="3845463" y="5816056"/>
            <a:ext cx="924685" cy="0"/>
          </a:xfrm>
          <a:prstGeom prst="straightConnector1">
            <a:avLst/>
          </a:prstGeom>
          <a:ln w="19050">
            <a:solidFill>
              <a:srgbClr val="00294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ZoneTexte 48">
            <a:extLst>
              <a:ext uri="{FF2B5EF4-FFF2-40B4-BE49-F238E27FC236}">
                <a16:creationId xmlns:a16="http://schemas.microsoft.com/office/drawing/2014/main" id="{D743478A-7130-482D-A293-B5B04A05D042}"/>
              </a:ext>
            </a:extLst>
          </p:cNvPr>
          <p:cNvSpPr txBox="1"/>
          <p:nvPr/>
        </p:nvSpPr>
        <p:spPr>
          <a:xfrm>
            <a:off x="7078735" y="5635520"/>
            <a:ext cx="214414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>
                <a:solidFill>
                  <a:srgbClr val="00294A"/>
                </a:solidFill>
              </a:rPr>
              <a:t>Regression</a:t>
            </a:r>
            <a:endParaRPr lang="fr-FR" sz="2000" dirty="0">
              <a:solidFill>
                <a:srgbClr val="00294A"/>
              </a:solidFill>
            </a:endParaRPr>
          </a:p>
        </p:txBody>
      </p:sp>
      <p:sp>
        <p:nvSpPr>
          <p:cNvPr id="75" name="ZoneTexte 48">
            <a:extLst>
              <a:ext uri="{FF2B5EF4-FFF2-40B4-BE49-F238E27FC236}">
                <a16:creationId xmlns:a16="http://schemas.microsoft.com/office/drawing/2014/main" id="{FEB4DF3E-5C75-4988-BD41-1DC77D8D90BB}"/>
              </a:ext>
            </a:extLst>
          </p:cNvPr>
          <p:cNvSpPr txBox="1"/>
          <p:nvPr/>
        </p:nvSpPr>
        <p:spPr>
          <a:xfrm>
            <a:off x="3920477" y="5635520"/>
            <a:ext cx="214414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>
                <a:solidFill>
                  <a:srgbClr val="00294A"/>
                </a:solidFill>
              </a:rPr>
              <a:t>Input</a:t>
            </a:r>
          </a:p>
        </p:txBody>
      </p:sp>
      <p:cxnSp>
        <p:nvCxnSpPr>
          <p:cNvPr id="76" name="Connecteur droit avec flèche 10">
            <a:extLst>
              <a:ext uri="{FF2B5EF4-FFF2-40B4-BE49-F238E27FC236}">
                <a16:creationId xmlns:a16="http://schemas.microsoft.com/office/drawing/2014/main" id="{DD1B272F-8D20-4BD2-83BD-C82578FE75F1}"/>
              </a:ext>
            </a:extLst>
          </p:cNvPr>
          <p:cNvCxnSpPr>
            <a:cxnSpLocks/>
          </p:cNvCxnSpPr>
          <p:nvPr/>
        </p:nvCxnSpPr>
        <p:spPr>
          <a:xfrm>
            <a:off x="8371840" y="2228955"/>
            <a:ext cx="462343" cy="0"/>
          </a:xfrm>
          <a:prstGeom prst="straightConnector1">
            <a:avLst/>
          </a:prstGeom>
          <a:ln w="19050">
            <a:solidFill>
              <a:srgbClr val="00294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99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3" grpId="0"/>
      <p:bldP spid="55" grpId="0"/>
      <p:bldP spid="58" grpId="0"/>
      <p:bldP spid="57" grpId="0"/>
      <p:bldP spid="61" grpId="0"/>
      <p:bldP spid="73" grpId="0"/>
      <p:bldP spid="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35">
            <a:extLst>
              <a:ext uri="{FF2B5EF4-FFF2-40B4-BE49-F238E27FC236}">
                <a16:creationId xmlns:a16="http://schemas.microsoft.com/office/drawing/2014/main" id="{FFE07B7C-C10D-46D5-8752-EF5408602AD3}"/>
              </a:ext>
            </a:extLst>
          </p:cNvPr>
          <p:cNvSpPr/>
          <p:nvPr/>
        </p:nvSpPr>
        <p:spPr>
          <a:xfrm>
            <a:off x="-438788" y="-3289"/>
            <a:ext cx="3960000" cy="432000"/>
          </a:xfrm>
          <a:prstGeom prst="parallelogram">
            <a:avLst>
              <a:gd name="adj" fmla="val 99500"/>
            </a:avLst>
          </a:prstGeom>
          <a:solidFill>
            <a:srgbClr val="00294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 err="1"/>
              <a:t>Dataset</a:t>
            </a:r>
            <a:r>
              <a:rPr lang="fr-FR" sz="2400" b="1" dirty="0"/>
              <a:t> </a:t>
            </a:r>
            <a:r>
              <a:rPr lang="fr-FR" sz="2400" b="1" dirty="0" err="1"/>
              <a:t>Generation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48">
                <a:extLst>
                  <a:ext uri="{FF2B5EF4-FFF2-40B4-BE49-F238E27FC236}">
                    <a16:creationId xmlns:a16="http://schemas.microsoft.com/office/drawing/2014/main" id="{CE1B30FA-5B51-4EA8-AE81-55F2891926CF}"/>
                  </a:ext>
                </a:extLst>
              </p:cNvPr>
              <p:cNvSpPr txBox="1"/>
              <p:nvPr/>
            </p:nvSpPr>
            <p:spPr>
              <a:xfrm>
                <a:off x="311434" y="662391"/>
                <a:ext cx="6419556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400" dirty="0">
                    <a:solidFill>
                      <a:srgbClr val="00294A"/>
                    </a:solidFill>
                  </a:rPr>
                  <a:t>From </a:t>
                </a:r>
                <a:r>
                  <a:rPr lang="fr-FR" sz="2400" b="1" dirty="0" err="1">
                    <a:solidFill>
                      <a:srgbClr val="00294A"/>
                    </a:solidFill>
                  </a:rPr>
                  <a:t>Test_KB.instr</a:t>
                </a:r>
                <a:r>
                  <a:rPr lang="fr-FR" sz="2400" b="1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available</a:t>
                </a:r>
                <a:r>
                  <a:rPr lang="fr-FR" sz="2400" dirty="0">
                    <a:solidFill>
                      <a:srgbClr val="00294A"/>
                    </a:solidFill>
                  </a:rPr>
                  <a:t> on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McXtrace</a:t>
                </a:r>
                <a:r>
                  <a:rPr lang="fr-FR" sz="2400" dirty="0">
                    <a:solidFill>
                      <a:srgbClr val="00294A"/>
                    </a:solidFill>
                  </a:rPr>
                  <a:t>:</a:t>
                </a:r>
                <a:br>
                  <a:rPr lang="fr-FR" sz="2400" dirty="0">
                    <a:solidFill>
                      <a:srgbClr val="00294A"/>
                    </a:solidFill>
                  </a:rPr>
                </a:br>
                <a:endParaRPr lang="fr-FR" sz="2400" dirty="0">
                  <a:solidFill>
                    <a:srgbClr val="00294A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fr-FR" sz="2400" dirty="0" err="1">
                    <a:solidFill>
                      <a:srgbClr val="00294A"/>
                    </a:solidFill>
                  </a:rPr>
                  <a:t>Make</a:t>
                </a:r>
                <a:r>
                  <a:rPr lang="fr-FR" sz="2400" dirty="0">
                    <a:solidFill>
                      <a:srgbClr val="00294A"/>
                    </a:solidFill>
                  </a:rPr>
                  <a:t> Simulation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closer</a:t>
                </a:r>
                <a:r>
                  <a:rPr lang="fr-FR" sz="2400" dirty="0">
                    <a:solidFill>
                      <a:srgbClr val="00294A"/>
                    </a:solidFill>
                  </a:rPr>
                  <a:t> to reality: </a:t>
                </a:r>
                <a:br>
                  <a:rPr lang="fr-FR" sz="2400" dirty="0">
                    <a:solidFill>
                      <a:srgbClr val="00294A"/>
                    </a:solidFill>
                  </a:rPr>
                </a:br>
                <a:r>
                  <a:rPr lang="fr-FR" sz="2400" i="1" dirty="0" err="1">
                    <a:solidFill>
                      <a:srgbClr val="00294A"/>
                    </a:solidFill>
                  </a:rPr>
                  <a:t>reduce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i="1" dirty="0" err="1">
                    <a:solidFill>
                      <a:srgbClr val="00294A"/>
                    </a:solidFill>
                  </a:rPr>
                  <a:t>mirror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 size and distance to </a:t>
                </a:r>
                <a:r>
                  <a:rPr lang="fr-FR" sz="2400" i="1" dirty="0" err="1">
                    <a:solidFill>
                      <a:srgbClr val="00294A"/>
                    </a:solidFill>
                  </a:rPr>
                  <a:t>sample</a:t>
                </a:r>
                <a:br>
                  <a:rPr lang="fr-FR" sz="2400" i="1" dirty="0">
                    <a:solidFill>
                      <a:srgbClr val="00294A"/>
                    </a:solidFill>
                  </a:rPr>
                </a:br>
                <a:endParaRPr lang="fr-FR" sz="2400" i="1" dirty="0">
                  <a:solidFill>
                    <a:srgbClr val="00294A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fr-FR" sz="2400" dirty="0" err="1">
                    <a:solidFill>
                      <a:srgbClr val="00294A"/>
                    </a:solidFill>
                  </a:rPr>
                  <a:t>Find</a:t>
                </a:r>
                <a:r>
                  <a:rPr lang="fr-FR" sz="2400" dirty="0">
                    <a:solidFill>
                      <a:srgbClr val="00294A"/>
                    </a:solidFill>
                  </a:rPr>
                  <a:t> Limits i.e. min max of Beam Shape</a:t>
                </a:r>
                <a:br>
                  <a:rPr lang="fr-FR" sz="2400" dirty="0">
                    <a:solidFill>
                      <a:srgbClr val="00294A"/>
                    </a:solidFill>
                  </a:rPr>
                </a:br>
                <a:r>
                  <a:rPr lang="fr-FR" sz="2400" i="1" dirty="0">
                    <a:solidFill>
                      <a:srgbClr val="00294A"/>
                    </a:solidFill>
                  </a:rPr>
                  <a:t>Via </a:t>
                </a:r>
                <a:r>
                  <a:rPr lang="fr-FR" sz="2400" i="1" dirty="0" err="1">
                    <a:solidFill>
                      <a:srgbClr val="00294A"/>
                    </a:solidFill>
                  </a:rPr>
                  <a:t>Optimize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 of </a:t>
                </a:r>
                <a:r>
                  <a:rPr lang="fr-FR" sz="2400" i="1" dirty="0" err="1">
                    <a:solidFill>
                      <a:srgbClr val="00294A"/>
                    </a:solidFill>
                  </a:rPr>
                  <a:t>McXtrace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 on </a:t>
                </a:r>
                <a:r>
                  <a:rPr lang="fr-FR" sz="2400" i="1" dirty="0" err="1">
                    <a:solidFill>
                      <a:srgbClr val="00294A"/>
                    </a:solidFill>
                  </a:rPr>
                  <a:t>dX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, </a:t>
                </a:r>
                <a:r>
                  <a:rPr lang="fr-FR" sz="2400" i="1" dirty="0" err="1">
                    <a:solidFill>
                      <a:srgbClr val="00294A"/>
                    </a:solidFill>
                  </a:rPr>
                  <a:t>dY</a:t>
                </a:r>
                <a:br>
                  <a:rPr lang="fr-FR" sz="2400" i="1" dirty="0">
                    <a:solidFill>
                      <a:srgbClr val="00294A"/>
                    </a:solidFill>
                  </a:rPr>
                </a:br>
                <a:endParaRPr lang="fr-FR" sz="2400" i="1" dirty="0">
                  <a:solidFill>
                    <a:srgbClr val="00294A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fr-FR" sz="2400" dirty="0" err="1">
                    <a:solidFill>
                      <a:srgbClr val="00294A"/>
                    </a:solidFill>
                  </a:rPr>
                  <a:t>Define</a:t>
                </a:r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parameters</a:t>
                </a:r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space</a:t>
                </a:r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from</a:t>
                </a:r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limits</a:t>
                </a:r>
                <a:br>
                  <a:rPr lang="fr-FR" sz="2400" dirty="0">
                    <a:solidFill>
                      <a:srgbClr val="00294A"/>
                    </a:solidFill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rgbClr val="00294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10, 10, 3, 3</m:t>
                        </m:r>
                      </m:e>
                    </m:d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→900</m:t>
                    </m:r>
                  </m:oMath>
                </a14:m>
                <a:br>
                  <a:rPr lang="fr-FR" sz="2400" dirty="0">
                    <a:solidFill>
                      <a:srgbClr val="00294A"/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400" i="1" dirty="0">
                        <a:solidFill>
                          <a:srgbClr val="00294A"/>
                        </a:solidFill>
                      </a:rPr>
                      <m:t>with</m:t>
                    </m:r>
                    <m:r>
                      <m:rPr>
                        <m:nor/>
                      </m:rPr>
                      <a:rPr lang="fr-FR" sz="2400" i="1" dirty="0">
                        <a:solidFill>
                          <a:srgbClr val="00294A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fr-FR" sz="2400" i="1" dirty="0">
                        <a:solidFill>
                          <a:srgbClr val="00294A"/>
                        </a:solidFill>
                      </a:rPr>
                      <m:t>discrete</m:t>
                    </m:r>
                    <m:r>
                      <m:rPr>
                        <m:nor/>
                      </m:rPr>
                      <a:rPr lang="fr-FR" sz="2400" i="1" dirty="0">
                        <a:solidFill>
                          <a:srgbClr val="00294A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fr-FR" sz="2400" i="1" dirty="0">
                        <a:solidFill>
                          <a:srgbClr val="00294A"/>
                        </a:solidFill>
                      </a:rPr>
                      <m:t>steps</m:t>
                    </m:r>
                  </m:oMath>
                </a14:m>
                <a:br>
                  <a:rPr lang="fr-FR" sz="2400" i="1" dirty="0">
                    <a:solidFill>
                      <a:srgbClr val="00294A"/>
                    </a:solidFill>
                  </a:rPr>
                </a:b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2400" i="1" dirty="0">
                  <a:solidFill>
                    <a:srgbClr val="00294A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fr-FR" sz="2400" dirty="0" err="1">
                    <a:solidFill>
                      <a:srgbClr val="00294A"/>
                    </a:solidFill>
                  </a:rPr>
                  <a:t>Generate</a:t>
                </a:r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Dataset</a:t>
                </a:r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with</a:t>
                </a:r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dirty="0" err="1">
                    <a:solidFill>
                      <a:srgbClr val="00294A"/>
                    </a:solidFill>
                  </a:rPr>
                  <a:t>mxrun</a:t>
                </a:r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br>
                  <a:rPr lang="fr-FR" sz="2400" dirty="0">
                    <a:solidFill>
                      <a:srgbClr val="00294A"/>
                    </a:solidFill>
                  </a:rPr>
                </a:br>
                <a:r>
                  <a:rPr lang="fr-FR" sz="2400" i="1" dirty="0">
                    <a:solidFill>
                      <a:srgbClr val="00294A"/>
                    </a:solidFill>
                  </a:rPr>
                  <a:t>900 images of size 64</a:t>
                </a:r>
                <a14:m>
                  <m:oMath xmlns:m="http://schemas.openxmlformats.org/officeDocument/2006/math"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fr-FR" sz="2400" i="1" dirty="0">
                    <a:solidFill>
                      <a:srgbClr val="00294A"/>
                    </a:solidFill>
                  </a:rPr>
                  <a:t>64 </a:t>
                </a:r>
                <a:r>
                  <a:rPr lang="fr-FR" sz="2400" i="1" dirty="0">
                    <a:solidFill>
                      <a:srgbClr val="00294A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∼ 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10’ on PC</a:t>
                </a:r>
              </a:p>
            </p:txBody>
          </p:sp>
        </mc:Choice>
        <mc:Fallback xmlns="">
          <p:sp>
            <p:nvSpPr>
              <p:cNvPr id="6" name="ZoneTexte 48">
                <a:extLst>
                  <a:ext uri="{FF2B5EF4-FFF2-40B4-BE49-F238E27FC236}">
                    <a16:creationId xmlns:a16="http://schemas.microsoft.com/office/drawing/2014/main" id="{CE1B30FA-5B51-4EA8-AE81-55F289192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34" y="662391"/>
                <a:ext cx="6419556" cy="5262979"/>
              </a:xfrm>
              <a:prstGeom prst="rect">
                <a:avLst/>
              </a:prstGeom>
              <a:blipFill>
                <a:blip r:embed="rId2"/>
                <a:stretch>
                  <a:fillRect l="-1235" t="-927" b="-17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9FBCCF9-63D5-435A-9AA5-BFD9F9D88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051" y="0"/>
            <a:ext cx="5569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6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FDD438-E6D8-4561-865D-526E6F2B5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160" y="0"/>
            <a:ext cx="279221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7A0897-3646-4167-A8FE-A8C9458A8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22" y="1970787"/>
            <a:ext cx="8656410" cy="3562032"/>
          </a:xfrm>
          <a:prstGeom prst="rect">
            <a:avLst/>
          </a:prstGeom>
        </p:spPr>
      </p:pic>
      <p:sp>
        <p:nvSpPr>
          <p:cNvPr id="7" name="Parallelogram 35">
            <a:extLst>
              <a:ext uri="{FF2B5EF4-FFF2-40B4-BE49-F238E27FC236}">
                <a16:creationId xmlns:a16="http://schemas.microsoft.com/office/drawing/2014/main" id="{ABB1720D-58AC-43DA-920B-EE36BA8C7B32}"/>
              </a:ext>
            </a:extLst>
          </p:cNvPr>
          <p:cNvSpPr/>
          <p:nvPr/>
        </p:nvSpPr>
        <p:spPr>
          <a:xfrm>
            <a:off x="-428628" y="-3289"/>
            <a:ext cx="3780000" cy="432000"/>
          </a:xfrm>
          <a:prstGeom prst="parallelogram">
            <a:avLst>
              <a:gd name="adj" fmla="val 99500"/>
            </a:avLst>
          </a:prstGeom>
          <a:solidFill>
            <a:srgbClr val="00294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/>
              <a:t>Our NN Architecture</a:t>
            </a:r>
            <a:endParaRPr lang="en-GB" sz="2400" b="1" dirty="0"/>
          </a:p>
        </p:txBody>
      </p:sp>
      <p:sp>
        <p:nvSpPr>
          <p:cNvPr id="8" name="ZoneTexte 48">
            <a:extLst>
              <a:ext uri="{FF2B5EF4-FFF2-40B4-BE49-F238E27FC236}">
                <a16:creationId xmlns:a16="http://schemas.microsoft.com/office/drawing/2014/main" id="{0B5A054E-1231-4232-8781-4C7C91BE379A}"/>
              </a:ext>
            </a:extLst>
          </p:cNvPr>
          <p:cNvSpPr txBox="1"/>
          <p:nvPr/>
        </p:nvSpPr>
        <p:spPr>
          <a:xfrm>
            <a:off x="363860" y="1243216"/>
            <a:ext cx="4450188" cy="727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294A"/>
                </a:solidFill>
              </a:rPr>
              <a:t>Convolution Neural Network:</a:t>
            </a:r>
          </a:p>
        </p:txBody>
      </p:sp>
    </p:spTree>
    <p:extLst>
      <p:ext uri="{BB962C8B-B14F-4D97-AF65-F5344CB8AC3E}">
        <p14:creationId xmlns:p14="http://schemas.microsoft.com/office/powerpoint/2010/main" val="268814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80DDAA-6884-4ABD-B345-452A50E6B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1158703"/>
            <a:ext cx="4765040" cy="27376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B64A94-F815-41EE-B0A2-8F131A150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957" y="934720"/>
            <a:ext cx="7156043" cy="5923280"/>
          </a:xfrm>
          <a:prstGeom prst="rect">
            <a:avLst/>
          </a:prstGeom>
        </p:spPr>
      </p:pic>
      <p:sp>
        <p:nvSpPr>
          <p:cNvPr id="5" name="Parallelogram 35">
            <a:extLst>
              <a:ext uri="{FF2B5EF4-FFF2-40B4-BE49-F238E27FC236}">
                <a16:creationId xmlns:a16="http://schemas.microsoft.com/office/drawing/2014/main" id="{CDC07EB5-B0A3-4452-B6ED-1277DEF4FF31}"/>
              </a:ext>
            </a:extLst>
          </p:cNvPr>
          <p:cNvSpPr/>
          <p:nvPr/>
        </p:nvSpPr>
        <p:spPr>
          <a:xfrm>
            <a:off x="-438788" y="-3289"/>
            <a:ext cx="2643508" cy="432000"/>
          </a:xfrm>
          <a:prstGeom prst="parallelogram">
            <a:avLst>
              <a:gd name="adj" fmla="val 99500"/>
            </a:avLst>
          </a:prstGeom>
          <a:solidFill>
            <a:srgbClr val="00294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/>
              <a:t> TRAINING 1</a:t>
            </a:r>
            <a:endParaRPr lang="en-GB" sz="2400" b="1" dirty="0"/>
          </a:p>
        </p:txBody>
      </p:sp>
      <p:sp>
        <p:nvSpPr>
          <p:cNvPr id="8" name="ZoneTexte 48">
            <a:extLst>
              <a:ext uri="{FF2B5EF4-FFF2-40B4-BE49-F238E27FC236}">
                <a16:creationId xmlns:a16="http://schemas.microsoft.com/office/drawing/2014/main" id="{8F050152-BA09-434C-A912-65B62ACAD903}"/>
              </a:ext>
            </a:extLst>
          </p:cNvPr>
          <p:cNvSpPr txBox="1"/>
          <p:nvPr/>
        </p:nvSpPr>
        <p:spPr>
          <a:xfrm>
            <a:off x="2421849" y="330723"/>
            <a:ext cx="734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rgbClr val="00294A"/>
                </a:solidFill>
              </a:rPr>
              <a:t>Trained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dirty="0" err="1">
                <a:solidFill>
                  <a:srgbClr val="00294A"/>
                </a:solidFill>
              </a:rPr>
              <a:t>with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b="1" dirty="0">
                <a:solidFill>
                  <a:srgbClr val="00294A"/>
                </a:solidFill>
              </a:rPr>
              <a:t>720 images </a:t>
            </a:r>
            <a:r>
              <a:rPr lang="fr-FR" sz="2400" dirty="0">
                <a:solidFill>
                  <a:srgbClr val="00294A"/>
                </a:solidFill>
              </a:rPr>
              <a:t>on </a:t>
            </a:r>
            <a:r>
              <a:rPr lang="fr-FR" sz="2400" b="1" dirty="0">
                <a:solidFill>
                  <a:srgbClr val="00294A"/>
                </a:solidFill>
              </a:rPr>
              <a:t>50 </a:t>
            </a:r>
            <a:r>
              <a:rPr lang="fr-FR" sz="2400" b="1" dirty="0" err="1">
                <a:solidFill>
                  <a:srgbClr val="00294A"/>
                </a:solidFill>
              </a:rPr>
              <a:t>epochs</a:t>
            </a:r>
            <a:r>
              <a:rPr lang="fr-FR" sz="2400" b="1" dirty="0">
                <a:solidFill>
                  <a:srgbClr val="00294A"/>
                </a:solidFill>
              </a:rPr>
              <a:t> </a:t>
            </a:r>
            <a:r>
              <a:rPr lang="fr-FR" sz="2400" dirty="0">
                <a:solidFill>
                  <a:srgbClr val="00294A"/>
                </a:solidFill>
              </a:rPr>
              <a:t>(</a:t>
            </a:r>
            <a:r>
              <a:rPr lang="fr-FR" sz="2400" dirty="0" err="1">
                <a:solidFill>
                  <a:srgbClr val="00294A"/>
                </a:solidFill>
              </a:rPr>
              <a:t>batch_size</a:t>
            </a:r>
            <a:r>
              <a:rPr lang="fr-FR" sz="2400" dirty="0">
                <a:solidFill>
                  <a:srgbClr val="00294A"/>
                </a:solidFill>
              </a:rPr>
              <a:t>=32)</a:t>
            </a:r>
            <a:endParaRPr lang="fr-FR" sz="2400" i="1" dirty="0">
              <a:solidFill>
                <a:srgbClr val="00294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48">
                <a:extLst>
                  <a:ext uri="{FF2B5EF4-FFF2-40B4-BE49-F238E27FC236}">
                    <a16:creationId xmlns:a16="http://schemas.microsoft.com/office/drawing/2014/main" id="{50F30A54-8B50-4D3F-B240-963487B61BB7}"/>
                  </a:ext>
                </a:extLst>
              </p:cNvPr>
              <p:cNvSpPr txBox="1"/>
              <p:nvPr/>
            </p:nvSpPr>
            <p:spPr>
              <a:xfrm>
                <a:off x="856142" y="5048280"/>
                <a:ext cx="342138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Calibri" panose="020F0502020204030204" pitchFamily="34" charset="0"/>
                  <a:buChar char="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=13.78 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endParaRPr lang="fr-FR" sz="2400" i="1" dirty="0">
                  <a:solidFill>
                    <a:srgbClr val="00294A"/>
                  </a:solidFill>
                </a:endParaRPr>
              </a:p>
              <a:p>
                <a:pPr marL="800100" lvl="1" indent="-342900">
                  <a:buFont typeface="Calibri" panose="020F0502020204030204" pitchFamily="34" charset="0"/>
                  <a:buChar char="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11.57 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FR" sz="2400" i="1" dirty="0">
                    <a:solidFill>
                      <a:srgbClr val="00294A"/>
                    </a:solidFill>
                  </a:rPr>
                  <a:t> </a:t>
                </a:r>
                <a:endParaRPr lang="fr-FR" sz="2400" b="0" i="1" dirty="0">
                  <a:solidFill>
                    <a:srgbClr val="00294A"/>
                  </a:solidFill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Calibri" panose="020F0502020204030204" pitchFamily="34" charset="0"/>
                  <a:buChar char="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0.14 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mrad</m:t>
                    </m:r>
                  </m:oMath>
                </a14:m>
                <a:endParaRPr lang="fr-FR" sz="2400" i="1" dirty="0">
                  <a:solidFill>
                    <a:srgbClr val="00294A"/>
                  </a:solidFill>
                </a:endParaRPr>
              </a:p>
              <a:p>
                <a:pPr marL="800100" lvl="1" indent="-342900">
                  <a:buFont typeface="Calibri" panose="020F0502020204030204" pitchFamily="34" charset="0"/>
                  <a:buChar char="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0.16 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mrad</m:t>
                    </m:r>
                  </m:oMath>
                </a14:m>
                <a:r>
                  <a:rPr lang="fr-FR" sz="2400" i="1" dirty="0">
                    <a:solidFill>
                      <a:srgbClr val="00294A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ZoneTexte 48">
                <a:extLst>
                  <a:ext uri="{FF2B5EF4-FFF2-40B4-BE49-F238E27FC236}">
                    <a16:creationId xmlns:a16="http://schemas.microsoft.com/office/drawing/2014/main" id="{50F30A54-8B50-4D3F-B240-963487B61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42" y="5048280"/>
                <a:ext cx="3421380" cy="1569660"/>
              </a:xfrm>
              <a:prstGeom prst="rect">
                <a:avLst/>
              </a:prstGeom>
              <a:blipFill>
                <a:blip r:embed="rId4"/>
                <a:stretch>
                  <a:fillRect t="-3488" b="-81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 : coins arrondis 55">
            <a:extLst>
              <a:ext uri="{FF2B5EF4-FFF2-40B4-BE49-F238E27FC236}">
                <a16:creationId xmlns:a16="http://schemas.microsoft.com/office/drawing/2014/main" id="{16F35EAB-66F8-4B5E-A86D-6A9C2160A078}"/>
              </a:ext>
            </a:extLst>
          </p:cNvPr>
          <p:cNvSpPr/>
          <p:nvPr/>
        </p:nvSpPr>
        <p:spPr>
          <a:xfrm>
            <a:off x="1151012" y="4056381"/>
            <a:ext cx="3027449" cy="2626360"/>
          </a:xfrm>
          <a:prstGeom prst="roundRect">
            <a:avLst>
              <a:gd name="adj" fmla="val 5151"/>
            </a:avLst>
          </a:prstGeom>
          <a:noFill/>
          <a:ln w="28575">
            <a:solidFill>
              <a:srgbClr val="002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2000" dirty="0">
              <a:solidFill>
                <a:srgbClr val="00294A"/>
              </a:solidFill>
            </a:endParaRPr>
          </a:p>
        </p:txBody>
      </p:sp>
      <p:sp>
        <p:nvSpPr>
          <p:cNvPr id="18" name="Rectangle : coins arrondis 39">
            <a:extLst>
              <a:ext uri="{FF2B5EF4-FFF2-40B4-BE49-F238E27FC236}">
                <a16:creationId xmlns:a16="http://schemas.microsoft.com/office/drawing/2014/main" id="{DFCDB540-AD41-4D02-84BC-B9032BF71326}"/>
              </a:ext>
            </a:extLst>
          </p:cNvPr>
          <p:cNvSpPr/>
          <p:nvPr/>
        </p:nvSpPr>
        <p:spPr>
          <a:xfrm>
            <a:off x="1151013" y="4056380"/>
            <a:ext cx="3027448" cy="927100"/>
          </a:xfrm>
          <a:prstGeom prst="roundRect">
            <a:avLst>
              <a:gd name="adj" fmla="val 13167"/>
            </a:avLst>
          </a:prstGeom>
          <a:solidFill>
            <a:srgbClr val="ECF1F9"/>
          </a:solidFill>
          <a:ln w="28575">
            <a:solidFill>
              <a:srgbClr val="002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00294A"/>
                </a:solidFill>
              </a:rPr>
              <a:t>Finals </a:t>
            </a:r>
            <a:r>
              <a:rPr lang="fr-FR" sz="2400" b="1" dirty="0" err="1">
                <a:solidFill>
                  <a:srgbClr val="00294A"/>
                </a:solidFill>
              </a:rPr>
              <a:t>MAEs</a:t>
            </a:r>
            <a:br>
              <a:rPr lang="fr-FR" sz="2400" b="1" dirty="0">
                <a:solidFill>
                  <a:srgbClr val="00294A"/>
                </a:solidFill>
              </a:rPr>
            </a:br>
            <a:r>
              <a:rPr lang="fr-FR" sz="2400" i="1" dirty="0">
                <a:solidFill>
                  <a:srgbClr val="00294A"/>
                </a:solidFill>
              </a:rPr>
              <a:t>(8.8%)</a:t>
            </a:r>
            <a:endParaRPr lang="fr-FR" sz="2000" b="1" dirty="0">
              <a:solidFill>
                <a:srgbClr val="0029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76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D7F552-E3DA-48B7-A1C5-34D143971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994" y="0"/>
            <a:ext cx="96360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7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80DDAA-6884-4ABD-B345-452A50E6B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88" y="1158703"/>
            <a:ext cx="4761143" cy="27376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B64A94-F815-41EE-B0A2-8F131A150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215" y="934720"/>
            <a:ext cx="7139526" cy="5923280"/>
          </a:xfrm>
          <a:prstGeom prst="rect">
            <a:avLst/>
          </a:prstGeom>
        </p:spPr>
      </p:pic>
      <p:sp>
        <p:nvSpPr>
          <p:cNvPr id="4" name="Parallelogram 35">
            <a:extLst>
              <a:ext uri="{FF2B5EF4-FFF2-40B4-BE49-F238E27FC236}">
                <a16:creationId xmlns:a16="http://schemas.microsoft.com/office/drawing/2014/main" id="{D86CE40E-C2C6-4E56-AFC4-7FA6ABE42AF1}"/>
              </a:ext>
            </a:extLst>
          </p:cNvPr>
          <p:cNvSpPr/>
          <p:nvPr/>
        </p:nvSpPr>
        <p:spPr>
          <a:xfrm>
            <a:off x="-438788" y="-3289"/>
            <a:ext cx="2643508" cy="432000"/>
          </a:xfrm>
          <a:prstGeom prst="parallelogram">
            <a:avLst>
              <a:gd name="adj" fmla="val 99500"/>
            </a:avLst>
          </a:prstGeom>
          <a:solidFill>
            <a:srgbClr val="00294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/>
              <a:t> TRAINING 2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8">
                <a:extLst>
                  <a:ext uri="{FF2B5EF4-FFF2-40B4-BE49-F238E27FC236}">
                    <a16:creationId xmlns:a16="http://schemas.microsoft.com/office/drawing/2014/main" id="{874D6582-4A96-468E-9CDA-E6CD27229F83}"/>
                  </a:ext>
                </a:extLst>
              </p:cNvPr>
              <p:cNvSpPr txBox="1"/>
              <p:nvPr/>
            </p:nvSpPr>
            <p:spPr>
              <a:xfrm>
                <a:off x="335280" y="5039778"/>
                <a:ext cx="440567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Calibri" panose="020F0502020204030204" pitchFamily="34" charset="0"/>
                  <a:buChar char="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=36.31 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(vs 13) </a:t>
                </a:r>
              </a:p>
              <a:p>
                <a:pPr marL="800100" lvl="1" indent="-342900">
                  <a:buFont typeface="Calibri" panose="020F0502020204030204" pitchFamily="34" charset="0"/>
                  <a:buChar char="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42.87 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fr-FR" sz="2400" i="1" dirty="0">
                    <a:solidFill>
                      <a:srgbClr val="00294A"/>
                    </a:solidFill>
                  </a:rPr>
                  <a:t> (vs 11) </a:t>
                </a:r>
                <a:endParaRPr lang="fr-FR" sz="2400" b="0" i="1" dirty="0">
                  <a:solidFill>
                    <a:srgbClr val="00294A"/>
                  </a:solidFill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Calibri" panose="020F0502020204030204" pitchFamily="34" charset="0"/>
                  <a:buChar char="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0.24 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mrad</m:t>
                    </m:r>
                  </m:oMath>
                </a14:m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(vs 0.14) </a:t>
                </a:r>
              </a:p>
              <a:p>
                <a:pPr marL="800100" lvl="1" indent="-342900">
                  <a:buFont typeface="Calibri" panose="020F0502020204030204" pitchFamily="34" charset="0"/>
                  <a:buChar char="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00294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i="1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0.36 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294A"/>
                        </a:solidFill>
                        <a:latin typeface="Cambria Math" panose="02040503050406030204" pitchFamily="18" charset="0"/>
                      </a:rPr>
                      <m:t>mrad</m:t>
                    </m:r>
                  </m:oMath>
                </a14:m>
                <a:r>
                  <a:rPr lang="fr-FR" sz="2400" dirty="0">
                    <a:solidFill>
                      <a:srgbClr val="00294A"/>
                    </a:solidFill>
                  </a:rPr>
                  <a:t> </a:t>
                </a:r>
                <a:r>
                  <a:rPr lang="fr-FR" sz="2400" i="1" dirty="0">
                    <a:solidFill>
                      <a:srgbClr val="00294A"/>
                    </a:solidFill>
                  </a:rPr>
                  <a:t>(vs 0.16) </a:t>
                </a:r>
              </a:p>
            </p:txBody>
          </p:sp>
        </mc:Choice>
        <mc:Fallback xmlns="">
          <p:sp>
            <p:nvSpPr>
              <p:cNvPr id="5" name="ZoneTexte 48">
                <a:extLst>
                  <a:ext uri="{FF2B5EF4-FFF2-40B4-BE49-F238E27FC236}">
                    <a16:creationId xmlns:a16="http://schemas.microsoft.com/office/drawing/2014/main" id="{874D6582-4A96-468E-9CDA-E6CD27229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" y="5039778"/>
                <a:ext cx="4405671" cy="1569660"/>
              </a:xfrm>
              <a:prstGeom prst="rect">
                <a:avLst/>
              </a:prstGeom>
              <a:blipFill>
                <a:blip r:embed="rId4"/>
                <a:stretch>
                  <a:fillRect t="-3891" b="-81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55">
            <a:extLst>
              <a:ext uri="{FF2B5EF4-FFF2-40B4-BE49-F238E27FC236}">
                <a16:creationId xmlns:a16="http://schemas.microsoft.com/office/drawing/2014/main" id="{AAD1E703-0965-4A97-A2D7-057F9A3AB920}"/>
              </a:ext>
            </a:extLst>
          </p:cNvPr>
          <p:cNvSpPr/>
          <p:nvPr/>
        </p:nvSpPr>
        <p:spPr>
          <a:xfrm>
            <a:off x="630151" y="4056381"/>
            <a:ext cx="4002835" cy="2626360"/>
          </a:xfrm>
          <a:prstGeom prst="roundRect">
            <a:avLst>
              <a:gd name="adj" fmla="val 5151"/>
            </a:avLst>
          </a:prstGeom>
          <a:noFill/>
          <a:ln w="28575">
            <a:solidFill>
              <a:srgbClr val="002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2000" dirty="0">
              <a:solidFill>
                <a:srgbClr val="00294A"/>
              </a:solidFill>
            </a:endParaRPr>
          </a:p>
        </p:txBody>
      </p:sp>
      <p:sp>
        <p:nvSpPr>
          <p:cNvPr id="8" name="Rectangle : coins arrondis 39">
            <a:extLst>
              <a:ext uri="{FF2B5EF4-FFF2-40B4-BE49-F238E27FC236}">
                <a16:creationId xmlns:a16="http://schemas.microsoft.com/office/drawing/2014/main" id="{7D50BB0C-2F55-40CB-9B62-10E37492EBDF}"/>
              </a:ext>
            </a:extLst>
          </p:cNvPr>
          <p:cNvSpPr/>
          <p:nvPr/>
        </p:nvSpPr>
        <p:spPr>
          <a:xfrm>
            <a:off x="630152" y="4056380"/>
            <a:ext cx="4002834" cy="927100"/>
          </a:xfrm>
          <a:prstGeom prst="roundRect">
            <a:avLst>
              <a:gd name="adj" fmla="val 13167"/>
            </a:avLst>
          </a:prstGeom>
          <a:solidFill>
            <a:srgbClr val="ECF1F9"/>
          </a:solidFill>
          <a:ln w="28575">
            <a:solidFill>
              <a:srgbClr val="0029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00294A"/>
                </a:solidFill>
              </a:rPr>
              <a:t>Finals </a:t>
            </a:r>
            <a:r>
              <a:rPr lang="fr-FR" sz="2400" b="1" dirty="0" err="1">
                <a:solidFill>
                  <a:srgbClr val="00294A"/>
                </a:solidFill>
              </a:rPr>
              <a:t>MAEs</a:t>
            </a:r>
            <a:br>
              <a:rPr lang="fr-FR" sz="2400" b="1" dirty="0">
                <a:solidFill>
                  <a:srgbClr val="00294A"/>
                </a:solidFill>
              </a:rPr>
            </a:br>
            <a:r>
              <a:rPr lang="fr-FR" sz="2400" i="1" dirty="0">
                <a:solidFill>
                  <a:srgbClr val="00294A"/>
                </a:solidFill>
              </a:rPr>
              <a:t>(45% vs 8.8)</a:t>
            </a:r>
            <a:endParaRPr lang="fr-FR" sz="2000" b="1" dirty="0">
              <a:solidFill>
                <a:srgbClr val="0029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74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35">
            <a:extLst>
              <a:ext uri="{FF2B5EF4-FFF2-40B4-BE49-F238E27FC236}">
                <a16:creationId xmlns:a16="http://schemas.microsoft.com/office/drawing/2014/main" id="{BF968644-8D75-459A-8E5D-D1DBA761B7B7}"/>
              </a:ext>
            </a:extLst>
          </p:cNvPr>
          <p:cNvSpPr/>
          <p:nvPr/>
        </p:nvSpPr>
        <p:spPr>
          <a:xfrm>
            <a:off x="-438788" y="-3289"/>
            <a:ext cx="2643508" cy="432000"/>
          </a:xfrm>
          <a:prstGeom prst="parallelogram">
            <a:avLst>
              <a:gd name="adj" fmla="val 99500"/>
            </a:avLst>
          </a:prstGeom>
          <a:solidFill>
            <a:srgbClr val="00294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/>
              <a:t>Perspectives</a:t>
            </a:r>
            <a:endParaRPr lang="en-GB" sz="2400" b="1" dirty="0"/>
          </a:p>
        </p:txBody>
      </p:sp>
      <p:sp>
        <p:nvSpPr>
          <p:cNvPr id="4" name="ZoneTexte 48">
            <a:extLst>
              <a:ext uri="{FF2B5EF4-FFF2-40B4-BE49-F238E27FC236}">
                <a16:creationId xmlns:a16="http://schemas.microsoft.com/office/drawing/2014/main" id="{7DDB6C66-7296-45D6-9C28-03C21ADDAABF}"/>
              </a:ext>
            </a:extLst>
          </p:cNvPr>
          <p:cNvSpPr txBox="1"/>
          <p:nvPr/>
        </p:nvSpPr>
        <p:spPr>
          <a:xfrm>
            <a:off x="363860" y="791803"/>
            <a:ext cx="8444860" cy="178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294A"/>
                </a:solidFill>
              </a:rPr>
              <a:t>On the Use Case:</a:t>
            </a:r>
          </a:p>
          <a:p>
            <a:pPr marL="800100" lvl="1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fr-FR" sz="2400" dirty="0" err="1">
                <a:solidFill>
                  <a:srgbClr val="00294A"/>
                </a:solidFill>
              </a:rPr>
              <a:t>Increase</a:t>
            </a:r>
            <a:r>
              <a:rPr lang="fr-FR" sz="2400" dirty="0">
                <a:solidFill>
                  <a:srgbClr val="00294A"/>
                </a:solidFill>
              </a:rPr>
              <a:t> Size of the Training </a:t>
            </a:r>
            <a:r>
              <a:rPr lang="fr-FR" sz="2400" dirty="0" err="1">
                <a:solidFill>
                  <a:srgbClr val="00294A"/>
                </a:solidFill>
              </a:rPr>
              <a:t>Dataset</a:t>
            </a:r>
            <a:r>
              <a:rPr lang="fr-FR" sz="2400" dirty="0">
                <a:solidFill>
                  <a:srgbClr val="00294A"/>
                </a:solidFill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fr-FR" sz="2400" dirty="0">
                <a:solidFill>
                  <a:srgbClr val="00294A"/>
                </a:solidFill>
              </a:rPr>
              <a:t>Explore a more </a:t>
            </a:r>
            <a:r>
              <a:rPr lang="fr-FR" sz="2400" dirty="0" err="1">
                <a:solidFill>
                  <a:srgbClr val="00294A"/>
                </a:solidFill>
              </a:rPr>
              <a:t>complete</a:t>
            </a:r>
            <a:r>
              <a:rPr lang="fr-FR" sz="2400" dirty="0">
                <a:solidFill>
                  <a:srgbClr val="00294A"/>
                </a:solidFill>
              </a:rPr>
              <a:t> range of the </a:t>
            </a:r>
            <a:r>
              <a:rPr lang="fr-FR" sz="2400" dirty="0" err="1">
                <a:solidFill>
                  <a:srgbClr val="00294A"/>
                </a:solidFill>
              </a:rPr>
              <a:t>parameters</a:t>
            </a:r>
            <a:endParaRPr lang="fr-FR" sz="2400" dirty="0">
              <a:solidFill>
                <a:srgbClr val="00294A"/>
              </a:solidFill>
            </a:endParaRPr>
          </a:p>
        </p:txBody>
      </p:sp>
      <p:sp>
        <p:nvSpPr>
          <p:cNvPr id="5" name="ZoneTexte 48">
            <a:extLst>
              <a:ext uri="{FF2B5EF4-FFF2-40B4-BE49-F238E27FC236}">
                <a16:creationId xmlns:a16="http://schemas.microsoft.com/office/drawing/2014/main" id="{C3994480-43B2-4873-8668-287914339346}"/>
              </a:ext>
            </a:extLst>
          </p:cNvPr>
          <p:cNvSpPr txBox="1"/>
          <p:nvPr/>
        </p:nvSpPr>
        <p:spPr>
          <a:xfrm>
            <a:off x="363859" y="3429000"/>
            <a:ext cx="9694541" cy="2343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294A"/>
                </a:solidFill>
              </a:rPr>
              <a:t>For the Future:</a:t>
            </a:r>
          </a:p>
          <a:p>
            <a:pPr marL="800100" lvl="1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fr-FR" sz="2400" dirty="0">
                <a:solidFill>
                  <a:srgbClr val="00294A"/>
                </a:solidFill>
              </a:rPr>
              <a:t>Input more </a:t>
            </a:r>
            <a:r>
              <a:rPr lang="fr-FR" sz="2400" dirty="0" err="1">
                <a:solidFill>
                  <a:srgbClr val="00294A"/>
                </a:solidFill>
              </a:rPr>
              <a:t>Beamline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dirty="0" err="1">
                <a:solidFill>
                  <a:srgbClr val="00294A"/>
                </a:solidFill>
              </a:rPr>
              <a:t>Optics</a:t>
            </a:r>
            <a:r>
              <a:rPr lang="fr-FR" sz="2400" dirty="0">
                <a:solidFill>
                  <a:srgbClr val="00294A"/>
                </a:solidFill>
              </a:rPr>
              <a:t> (DCM, </a:t>
            </a:r>
            <a:r>
              <a:rPr lang="fr-FR" sz="2400" dirty="0" err="1">
                <a:solidFill>
                  <a:srgbClr val="00294A"/>
                </a:solidFill>
              </a:rPr>
              <a:t>Mirrors</a:t>
            </a:r>
            <a:r>
              <a:rPr lang="fr-FR" sz="2400" dirty="0">
                <a:solidFill>
                  <a:srgbClr val="00294A"/>
                </a:solidFill>
              </a:rPr>
              <a:t>, </a:t>
            </a:r>
            <a:r>
              <a:rPr lang="fr-FR" sz="2400" dirty="0" err="1">
                <a:solidFill>
                  <a:srgbClr val="00294A"/>
                </a:solidFill>
              </a:rPr>
              <a:t>slits</a:t>
            </a:r>
            <a:r>
              <a:rPr lang="fr-FR" sz="2400" dirty="0">
                <a:solidFill>
                  <a:srgbClr val="00294A"/>
                </a:solidFill>
              </a:rPr>
              <a:t>) and </a:t>
            </a:r>
            <a:r>
              <a:rPr lang="fr-FR" sz="2400" dirty="0" err="1">
                <a:solidFill>
                  <a:srgbClr val="00294A"/>
                </a:solidFill>
              </a:rPr>
              <a:t>parameters</a:t>
            </a:r>
            <a:endParaRPr lang="fr-FR" sz="2400" dirty="0">
              <a:solidFill>
                <a:srgbClr val="00294A"/>
              </a:solidFill>
            </a:endParaRPr>
          </a:p>
          <a:p>
            <a:pPr marL="800100" lvl="1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fr-FR" sz="2400" dirty="0">
                <a:solidFill>
                  <a:srgbClr val="00294A"/>
                </a:solidFill>
              </a:rPr>
              <a:t>Try to </a:t>
            </a:r>
            <a:r>
              <a:rPr lang="fr-FR" sz="2400" dirty="0" err="1">
                <a:solidFill>
                  <a:srgbClr val="00294A"/>
                </a:solidFill>
              </a:rPr>
              <a:t>Maximize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dirty="0" err="1">
                <a:solidFill>
                  <a:srgbClr val="00294A"/>
                </a:solidFill>
              </a:rPr>
              <a:t>Intensity</a:t>
            </a:r>
            <a:r>
              <a:rPr lang="fr-FR" sz="2400" dirty="0">
                <a:solidFill>
                  <a:srgbClr val="00294A"/>
                </a:solidFill>
              </a:rPr>
              <a:t> for a </a:t>
            </a:r>
            <a:r>
              <a:rPr lang="fr-FR" sz="2400" dirty="0" err="1">
                <a:solidFill>
                  <a:srgbClr val="00294A"/>
                </a:solidFill>
              </a:rPr>
              <a:t>given</a:t>
            </a:r>
            <a:r>
              <a:rPr lang="fr-FR" sz="2400" dirty="0">
                <a:solidFill>
                  <a:srgbClr val="00294A"/>
                </a:solidFill>
              </a:rPr>
              <a:t> Beam Shape</a:t>
            </a:r>
          </a:p>
          <a:p>
            <a:pPr marL="800100" lvl="1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fr-FR" sz="2400" dirty="0" err="1">
                <a:solidFill>
                  <a:srgbClr val="00294A"/>
                </a:solidFill>
              </a:rPr>
              <a:t>Extend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dirty="0" err="1">
                <a:solidFill>
                  <a:srgbClr val="00294A"/>
                </a:solidFill>
              </a:rPr>
              <a:t>this</a:t>
            </a:r>
            <a:r>
              <a:rPr lang="fr-FR" sz="2400" dirty="0">
                <a:solidFill>
                  <a:srgbClr val="00294A"/>
                </a:solidFill>
              </a:rPr>
              <a:t> </a:t>
            </a:r>
            <a:r>
              <a:rPr lang="fr-FR" sz="2400" dirty="0" err="1">
                <a:solidFill>
                  <a:srgbClr val="00294A"/>
                </a:solidFill>
              </a:rPr>
              <a:t>method</a:t>
            </a:r>
            <a:r>
              <a:rPr lang="fr-FR" sz="2400" dirty="0">
                <a:solidFill>
                  <a:srgbClr val="00294A"/>
                </a:solidFill>
              </a:rPr>
              <a:t> to </a:t>
            </a:r>
            <a:r>
              <a:rPr lang="fr-FR" sz="2400" dirty="0" err="1">
                <a:solidFill>
                  <a:srgbClr val="00294A"/>
                </a:solidFill>
              </a:rPr>
              <a:t>different</a:t>
            </a:r>
            <a:r>
              <a:rPr lang="fr-FR" sz="2400" dirty="0">
                <a:solidFill>
                  <a:srgbClr val="00294A"/>
                </a:solidFill>
              </a:rPr>
              <a:t> Energies</a:t>
            </a:r>
          </a:p>
        </p:txBody>
      </p:sp>
    </p:spTree>
    <p:extLst>
      <p:ext uri="{BB962C8B-B14F-4D97-AF65-F5344CB8AC3E}">
        <p14:creationId xmlns:p14="http://schemas.microsoft.com/office/powerpoint/2010/main" val="321295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323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Poline</dc:creator>
  <cp:lastModifiedBy>Victor Poline</cp:lastModifiedBy>
  <cp:revision>25</cp:revision>
  <dcterms:created xsi:type="dcterms:W3CDTF">2026-09-24T14:17:42Z</dcterms:created>
  <dcterms:modified xsi:type="dcterms:W3CDTF">2026-09-25T08:31:53Z</dcterms:modified>
</cp:coreProperties>
</file>